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Exchange Resiliency &amp; Transformation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June 26, 2026 | Marten Engblom → CJ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Opening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Context:</a:t>
            </a:r>
          </a:p>
          <a:p>
            <a:pPr>
              <a:spcBef>
                <a:spcPts val="600"/>
              </a:spcBef>
              <a:defRPr sz="1600"/>
            </a:pPr>
            <a:r>
              <a:t>• This week's production incident is not noise - it's signal</a:t>
            </a:r>
          </a:p>
          <a:p>
            <a:pPr>
              <a:spcBef>
                <a:spcPts val="600"/>
              </a:spcBef>
              <a:defRPr sz="1600"/>
            </a:pPr>
            <a:r>
              <a:t>• Shows exactly why the transformation work matters</a:t>
            </a:r>
          </a:p>
          <a:p>
            <a:pPr>
              <a:spcBef>
                <a:spcPts val="600"/>
              </a:spcBef>
              <a:defRPr sz="1600"/>
            </a:pPr>
            <a:r>
              <a:t>• Perfect case study for journey from 'heroic firefighting' to 'resilient systems'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Today's agenda:</a:t>
            </a:r>
          </a:p>
          <a:p>
            <a:pPr>
              <a:spcBef>
                <a:spcPts val="600"/>
              </a:spcBef>
              <a:defRPr sz="1600"/>
            </a:pPr>
            <a:r>
              <a:t>1. Resiliency commitments - status update</a:t>
            </a:r>
          </a:p>
          <a:p>
            <a:pPr>
              <a:spcBef>
                <a:spcPts val="600"/>
              </a:spcBef>
              <a:defRPr sz="1600"/>
            </a:pPr>
            <a:r>
              <a:t>2. Transformation story - what we've actually built</a:t>
            </a:r>
          </a:p>
          <a:p>
            <a:pPr>
              <a:spcBef>
                <a:spcPts val="600"/>
              </a:spcBef>
              <a:defRPr sz="1600"/>
            </a:pPr>
            <a:r>
              <a:t>3. Current focus - why autonomous teams change everything</a:t>
            </a:r>
          </a:p>
          <a:p>
            <a:pPr>
              <a:spcBef>
                <a:spcPts val="600"/>
              </a:spcBef>
              <a:defRPr sz="1600"/>
            </a:pPr>
            <a:r>
              <a:t>4. What remains - honest technical debt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Six Resiliency Commitments -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Commitment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Owner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DB Migration to managed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Daniel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DR Drills (4hr RTO, 2hr RPO)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Daniel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Vulnerabilities within 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Aaron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Eliminate EOL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Aaron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Industry Continuity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Jena Milan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Increase Modularity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🔄 Ongoing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Marten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Key insight: We're executing on all six - but this week's incident proves modularity is the linchpin.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Org Transformation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Before (2024):</a:t>
            </a:r>
          </a:p>
          <a:p>
            <a:pPr>
              <a:spcBef>
                <a:spcPts val="600"/>
              </a:spcBef>
              <a:defRPr sz="1600"/>
            </a:pPr>
            <a:r>
              <a:t>• 1 Director, 3 Managers, ~100 Engineers</a:t>
            </a:r>
          </a:p>
          <a:p>
            <a:pPr>
              <a:spcBef>
                <a:spcPts val="600"/>
              </a:spcBef>
              <a:defRPr sz="1600"/>
            </a:pPr>
            <a:r>
              <a:t>• Reactive firefighting culture</a:t>
            </a:r>
          </a:p>
          <a:p>
            <a:pPr>
              <a:spcBef>
                <a:spcPts val="600"/>
              </a:spcBef>
              <a:defRPr sz="1600"/>
            </a:pPr>
            <a:r>
              <a:t>• Monolithic coupling everywhere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After (2026):</a:t>
            </a:r>
          </a:p>
          <a:p>
            <a:pPr>
              <a:spcBef>
                <a:spcPts val="600"/>
              </a:spcBef>
              <a:defRPr sz="1600"/>
            </a:pPr>
            <a:r>
              <a:t>• 4 Directors, 12 Managers</a:t>
            </a:r>
          </a:p>
          <a:p>
            <a:pPr>
              <a:spcBef>
                <a:spcPts val="600"/>
              </a:spcBef>
              <a:defRPr sz="1600"/>
            </a:pPr>
            <a:r>
              <a:t>• 3-5 person teams (Spotify/FAANG model)</a:t>
            </a:r>
          </a:p>
          <a:p>
            <a:pPr>
              <a:spcBef>
                <a:spcPts val="600"/>
              </a:spcBef>
              <a:defRPr sz="1600"/>
            </a:pPr>
            <a:r>
              <a:t>• Proactive engineering culture</a:t>
            </a:r>
          </a:p>
          <a:p>
            <a:pPr>
              <a:spcBef>
                <a:spcPts val="600"/>
              </a:spcBef>
              <a:defRPr sz="1600"/>
            </a:pPr>
            <a:r>
              <a:t>• Modern organizational structure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The transformation isn't just org chart shuffling - it's enabling autonomous teams</a:t>
            </a:r>
          </a:p>
          <a:p>
            <a:pPr>
              <a:spcBef>
                <a:spcPts val="600"/>
              </a:spcBef>
              <a:defRPr sz="1600"/>
            </a:pPr>
            <a:r>
              <a:t>that can move fast without breaking things.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Resiliency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Promised vs.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Five dimensions of comprehensive execution:</a:t>
            </a:r>
          </a:p>
          <a:p/>
          <a:p>
            <a:r>
              <a:t>1. Database &amp; Data Layer</a:t>
            </a:r>
          </a:p>
          <a:p>
            <a:r>
              <a:t>2. Architectural Decoupling</a:t>
            </a:r>
          </a:p>
          <a:p>
            <a:r>
              <a:t>3. Infrastructure &amp; Resilience</a:t>
            </a:r>
          </a:p>
          <a:p>
            <a:r>
              <a:t>4. Observability &amp; Operations</a:t>
            </a:r>
          </a:p>
          <a:p>
            <a:r>
              <a:t>5. Process, Governance &amp; Security</a:t>
            </a:r>
          </a:p>
          <a:p/>
          <a:p>
            <a:r>
              <a:t>43 completed or in-progress items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&amp; Data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We Promised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We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/>
            </a:pPr>
            <a:r>
              <a:t>• DB Stabilization: Audit DB and BT/BD</a:t>
            </a:r>
          </a:p>
          <a:p>
            <a:pPr>
              <a:spcBef>
                <a:spcPts val="400"/>
              </a:spcBef>
              <a:defRPr sz="1100"/>
            </a:pPr>
            <a:r>
              <a:t>• MongoDB migration to Atlas</a:t>
            </a:r>
          </a:p>
          <a:p>
            <a:pPr>
              <a:spcBef>
                <a:spcPts val="400"/>
              </a:spcBef>
              <a:defRPr sz="1100"/>
            </a:pPr>
            <a:r>
              <a:t>• Elasticsearch to Elastic Cloud</a:t>
            </a:r>
          </a:p>
          <a:p>
            <a:pPr>
              <a:spcBef>
                <a:spcPts val="400"/>
              </a:spcBef>
              <a:defRPr sz="1100"/>
            </a:pPr>
            <a:r>
              <a:t>• AuditDB improvements &amp; cleanup</a:t>
            </a:r>
          </a:p>
          <a:p>
            <a:pPr>
              <a:spcBef>
                <a:spcPts val="400"/>
              </a:spcBef>
              <a:defRPr sz="1100"/>
            </a:pPr>
            <a:r>
              <a:t>• TPM query optimization</a:t>
            </a:r>
          </a:p>
          <a:p>
            <a:pPr>
              <a:spcBef>
                <a:spcPts val="400"/>
              </a:spcBef>
              <a:defRPr sz="1100"/>
            </a:pPr>
            <a:r>
              <a:t>• IBR data migration</a:t>
            </a:r>
          </a:p>
          <a:p>
            <a:pPr>
              <a:spcBef>
                <a:spcPts val="400"/>
              </a:spcBef>
              <a:defRPr sz="1100"/>
            </a:pPr>
            <a:r>
              <a:t>• Replace direct DB calls with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/>
            </a:pPr>
            <a:r>
              <a:t>• IBR User Data Separation (Phase 2 done, Phase 3 ongoing)</a:t>
            </a:r>
          </a:p>
          <a:p>
            <a:pPr>
              <a:spcBef>
                <a:spcPts val="400"/>
              </a:spcBef>
              <a:defRPr sz="1100"/>
            </a:pPr>
            <a:r>
              <a:t>• BR User Data Cache - 80% reduction in TPM reads</a:t>
            </a:r>
          </a:p>
          <a:p>
            <a:pPr>
              <a:spcBef>
                <a:spcPts val="400"/>
              </a:spcBef>
              <a:defRPr sz="1100"/>
            </a:pPr>
            <a:r>
              <a:t>• TPM to Aurora - Multi-region sync enabled</a:t>
            </a:r>
          </a:p>
          <a:p>
            <a:pPr>
              <a:spcBef>
                <a:spcPts val="400"/>
              </a:spcBef>
              <a:defRPr sz="1100"/>
            </a:pPr>
            <a:r>
              <a:t>• Semijoin Optimization re-enabled</a:t>
            </a:r>
          </a:p>
          <a:p>
            <a:pPr>
              <a:spcBef>
                <a:spcPts val="400"/>
              </a:spcBef>
              <a:defRPr sz="1100"/>
            </a:pPr>
            <a:r>
              <a:t>• MEX Query Optimization</a:t>
            </a:r>
          </a:p>
          <a:p>
            <a:pPr>
              <a:spcBef>
                <a:spcPts val="400"/>
              </a:spcBef>
              <a:defRPr sz="1100"/>
            </a:pPr>
            <a:r>
              <a:t>• AuditDB ILM Data Cleanup</a:t>
            </a:r>
          </a:p>
          <a:p>
            <a:pPr>
              <a:spcBef>
                <a:spcPts val="400"/>
              </a:spcBef>
              <a:defRPr sz="1100"/>
            </a:pPr>
            <a:r>
              <a:t>• D Semaphore to Redis - Removed AuditDB dependency</a:t>
            </a:r>
          </a:p>
          <a:p>
            <a:pPr>
              <a:spcBef>
                <a:spcPts val="400"/>
              </a:spcBef>
              <a:defRPr sz="1100"/>
            </a:pPr>
            <a:r>
              <a:t>• Atlas &amp; ES Migrations ongoing</a:t>
            </a:r>
          </a:p>
          <a:p>
            <a:pPr>
              <a:spcBef>
                <a:spcPts val="400"/>
              </a:spcBef>
              <a:defRPr sz="1100"/>
            </a:pPr>
            <a:r>
              <a:t>• Org Search in ES: 30min → 5min bulk 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Architectural Decoupling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We Promised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We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/>
            </a:pPr>
            <a:r>
              <a:t>• Exchange Platform Modularization</a:t>
            </a:r>
          </a:p>
          <a:p>
            <a:pPr>
              <a:spcBef>
                <a:spcPts val="400"/>
              </a:spcBef>
              <a:defRPr sz="1100"/>
            </a:pPr>
            <a:r>
              <a:t>• SSO Decoupling from AuditDB &amp; TPM</a:t>
            </a:r>
          </a:p>
          <a:p>
            <a:pPr>
              <a:spcBef>
                <a:spcPts val="400"/>
              </a:spcBef>
              <a:defRPr sz="1100"/>
            </a:pPr>
            <a:r>
              <a:t>• User Data Decouple (IBR)</a:t>
            </a:r>
          </a:p>
          <a:p>
            <a:pPr>
              <a:spcBef>
                <a:spcPts val="400"/>
              </a:spcBef>
              <a:defRPr sz="1100"/>
            </a:pPr>
            <a:r>
              <a:t>• Tracking Engine Decouple</a:t>
            </a:r>
          </a:p>
          <a:p>
            <a:pPr>
              <a:spcBef>
                <a:spcPts val="400"/>
              </a:spcBef>
              <a:defRPr sz="1100"/>
            </a:pPr>
            <a:r>
              <a:t>• Dead Listener Refactor</a:t>
            </a:r>
          </a:p>
          <a:p>
            <a:pPr>
              <a:spcBef>
                <a:spcPts val="400"/>
              </a:spcBef>
              <a:defRPr sz="1100"/>
            </a:pPr>
            <a:r>
              <a:t>• Feed Processor Refactor</a:t>
            </a:r>
          </a:p>
          <a:p>
            <a:pPr>
              <a:spcBef>
                <a:spcPts val="400"/>
              </a:spcBef>
              <a:defRPr sz="1100"/>
            </a:pPr>
            <a:r>
              <a:t>• Doc Processing Phase 2</a:t>
            </a:r>
          </a:p>
          <a:p>
            <a:pPr>
              <a:spcBef>
                <a:spcPts val="400"/>
              </a:spcBef>
              <a:defRPr sz="1100"/>
            </a:pPr>
            <a:r>
              <a:t>• Data Poller overhaul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/>
            </a:pPr>
            <a:r>
              <a:t>• SSO: Identity out of Audit DB - logins independent</a:t>
            </a:r>
          </a:p>
          <a:p>
            <a:pPr>
              <a:spcBef>
                <a:spcPts val="400"/>
              </a:spcBef>
              <a:defRPr sz="1100"/>
            </a:pPr>
            <a:r>
              <a:t>• SSO: TPM Separation - 52 tables to dedicated DB</a:t>
            </a:r>
          </a:p>
          <a:p>
            <a:pPr>
              <a:spcBef>
                <a:spcPts val="400"/>
              </a:spcBef>
              <a:defRPr sz="1100"/>
            </a:pPr>
            <a:r>
              <a:t>• Org API Gateway - Fully decoupled</a:t>
            </a:r>
          </a:p>
          <a:p>
            <a:pPr>
              <a:spcBef>
                <a:spcPts val="400"/>
              </a:spcBef>
              <a:defRPr sz="1100"/>
            </a:pPr>
            <a:r>
              <a:t>• RC 2.0 Monolith Decoupling - Own repo/pipelines</a:t>
            </a:r>
          </a:p>
          <a:p>
            <a:pPr>
              <a:spcBef>
                <a:spcPts val="400"/>
              </a:spcBef>
              <a:defRPr sz="1100"/>
            </a:pPr>
            <a:r>
              <a:t>• 4 UIs decoupled: Orders, Notifications, Transactions, Invoicing</a:t>
            </a:r>
          </a:p>
          <a:p>
            <a:pPr>
              <a:spcBef>
                <a:spcPts val="400"/>
              </a:spcBef>
              <a:defRPr sz="1100"/>
            </a:pPr>
            <a:r>
              <a:t>• AdapterAPI Part 2 - IO adapters from TPM</a:t>
            </a:r>
          </a:p>
          <a:p>
            <a:pPr>
              <a:spcBef>
                <a:spcPts val="400"/>
              </a:spcBef>
              <a:defRPr sz="1100"/>
            </a:pPr>
            <a:r>
              <a:t>• Tracking Engine - Separate repo/pipeline</a:t>
            </a:r>
          </a:p>
          <a:p>
            <a:pPr>
              <a:spcBef>
                <a:spcPts val="400"/>
              </a:spcBef>
              <a:defRPr sz="1100"/>
            </a:pPr>
            <a:r>
              <a:t>• Notifications Engine - Separate repo/pipeline</a:t>
            </a:r>
          </a:p>
          <a:p>
            <a:pPr>
              <a:spcBef>
                <a:spcPts val="400"/>
              </a:spcBef>
              <a:defRPr sz="1100"/>
            </a:pPr>
            <a:r>
              <a:t>• Doc IO API Split 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Infrastructure &amp;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We Promised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We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/>
            </a:pPr>
            <a:r>
              <a:t>• DR Drills (4hr RTO, 2hr RPO)</a:t>
            </a:r>
          </a:p>
          <a:p>
            <a:pPr>
              <a:spcBef>
                <a:spcPts val="400"/>
              </a:spcBef>
              <a:defRPr sz="1100"/>
            </a:pPr>
            <a:r>
              <a:t>• Industry Continuity Solution (ICS)</a:t>
            </a:r>
          </a:p>
          <a:p>
            <a:pPr>
              <a:spcBef>
                <a:spcPts val="400"/>
              </a:spcBef>
              <a:defRPr sz="1100"/>
            </a:pPr>
            <a:r>
              <a:t>• New Performance Environment</a:t>
            </a:r>
          </a:p>
          <a:p>
            <a:pPr>
              <a:spcBef>
                <a:spcPts val="400"/>
              </a:spcBef>
              <a:defRPr sz="1100"/>
            </a:pPr>
            <a:r>
              <a:t>• Performance Testing capability</a:t>
            </a:r>
          </a:p>
          <a:p>
            <a:pPr>
              <a:spcBef>
                <a:spcPts val="400"/>
              </a:spcBef>
              <a:defRPr sz="1100"/>
            </a:pPr>
            <a:r>
              <a:t>• Managed Database Services</a:t>
            </a:r>
          </a:p>
          <a:p>
            <a:pPr>
              <a:spcBef>
                <a:spcPts val="400"/>
              </a:spcBef>
              <a:defRPr sz="1100"/>
            </a:pPr>
            <a:r>
              <a:t>• Scheduling Enhancements</a:t>
            </a:r>
          </a:p>
          <a:p>
            <a:pPr>
              <a:spcBef>
                <a:spcPts val="400"/>
              </a:spcBef>
              <a:defRPr sz="1100"/>
            </a:pPr>
            <a:r>
              <a:t>• Event Bus Next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/>
            </a:pPr>
            <a:r>
              <a:t>• Performance Environment - Critical for upgrades</a:t>
            </a:r>
          </a:p>
          <a:p>
            <a:pPr>
              <a:spcBef>
                <a:spcPts val="400"/>
              </a:spcBef>
              <a:defRPr sz="1100"/>
            </a:pPr>
            <a:r>
              <a:t>• EventBus Resiliency - Reduced incident impact</a:t>
            </a:r>
          </a:p>
          <a:p>
            <a:pPr>
              <a:spcBef>
                <a:spcPts val="400"/>
              </a:spcBef>
              <a:defRPr sz="1100"/>
            </a:pPr>
            <a:r>
              <a:t>• Processing Engine Robustness - Tuning + Flight Recorder</a:t>
            </a:r>
          </a:p>
          <a:p>
            <a:pPr>
              <a:spcBef>
                <a:spcPts val="400"/>
              </a:spcBef>
              <a:defRPr sz="1100"/>
            </a:pPr>
            <a:r>
              <a:t>• IO Guarantee - SQS Backup for Native Comms</a:t>
            </a:r>
          </a:p>
          <a:p>
            <a:pPr>
              <a:spcBef>
                <a:spcPts val="400"/>
              </a:spcBef>
              <a:defRPr sz="1100"/>
            </a:pPr>
            <a:r>
              <a:t>• Tracking Resiliency Phase 1 &amp; 2</a:t>
            </a:r>
          </a:p>
          <a:p>
            <a:pPr>
              <a:spcBef>
                <a:spcPts val="400"/>
              </a:spcBef>
              <a:defRPr sz="1100"/>
            </a:pPr>
            <a:r>
              <a:t>• Industry Continuity Solution - 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Observability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We Promised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We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/>
            </a:pPr>
            <a:r>
              <a:t>• Alerting and Monitoring improvements</a:t>
            </a:r>
          </a:p>
          <a:p>
            <a:pPr>
              <a:spcBef>
                <a:spcPts val="400"/>
              </a:spcBef>
              <a:defRPr sz="1100"/>
            </a:pPr>
            <a:r>
              <a:t>• Fix monitoring gaps</a:t>
            </a:r>
          </a:p>
          <a:p>
            <a:pPr>
              <a:spcBef>
                <a:spcPts val="400"/>
              </a:spcBef>
              <a:defRPr sz="1100"/>
            </a:pPr>
            <a:r>
              <a:t>• Visibility improvements</a:t>
            </a:r>
          </a:p>
          <a:p>
            <a:pPr>
              <a:spcBef>
                <a:spcPts val="400"/>
              </a:spcBef>
              <a:defRPr sz="1100"/>
            </a:pPr>
            <a:r>
              <a:t>• DB spike detection</a:t>
            </a:r>
          </a:p>
          <a:p>
            <a:pPr>
              <a:spcBef>
                <a:spcPts val="400"/>
              </a:spcBef>
              <a:defRPr sz="1100"/>
            </a:pPr>
            <a:r>
              <a:t>• Incident Management maturity</a:t>
            </a:r>
          </a:p>
          <a:p>
            <a:pPr>
              <a:spcBef>
                <a:spcPts val="400"/>
              </a:spcBef>
              <a:defRPr sz="1100"/>
            </a:pPr>
            <a:r>
              <a:t>• Feature Flagging capability</a:t>
            </a:r>
          </a:p>
          <a:p>
            <a:pPr>
              <a:spcBef>
                <a:spcPts val="400"/>
              </a:spcBef>
              <a:defRPr sz="1100"/>
            </a:pPr>
            <a:r>
              <a:t>• Canary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/>
            </a:pPr>
            <a:r>
              <a:t>• CoreX Business Intelligence - Full visibility</a:t>
            </a:r>
          </a:p>
          <a:p>
            <a:pPr>
              <a:spcBef>
                <a:spcPts val="400"/>
              </a:spcBef>
              <a:defRPr sz="1100"/>
            </a:pPr>
            <a:r>
              <a:t>• Heartbeat Configuration Cache - Faster response</a:t>
            </a:r>
          </a:p>
          <a:p>
            <a:pPr>
              <a:spcBef>
                <a:spcPts val="400"/>
              </a:spcBef>
              <a:defRPr sz="1100"/>
            </a:pPr>
            <a:r>
              <a:t>• Canary Program - Document Prediction deployed</a:t>
            </a:r>
          </a:p>
          <a:p>
            <a:pPr>
              <a:spcBef>
                <a:spcPts val="400"/>
              </a:spcBef>
              <a:defRPr sz="1100"/>
            </a:pPr>
            <a:r>
              <a:t>• CoreX BI Dashboard - Throughput monitoring</a:t>
            </a:r>
          </a:p>
          <a:p>
            <a:pPr>
              <a:spcBef>
                <a:spcPts val="400"/>
              </a:spcBef>
              <a:defRPr sz="1100"/>
            </a:pPr>
            <a:r>
              <a:t>• Org API GitHub Validation: days → 2 minutes</a:t>
            </a:r>
          </a:p>
          <a:p>
            <a:pPr>
              <a:spcBef>
                <a:spcPts val="400"/>
              </a:spcBef>
              <a:defRPr sz="1100"/>
            </a:pPr>
            <a:r>
              <a:t>• Feature Flagging deployed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Process, Governance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We Promised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We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/>
            </a:pPr>
            <a:r>
              <a:t>• Release rigor and change management</a:t>
            </a:r>
          </a:p>
          <a:p>
            <a:pPr>
              <a:spcBef>
                <a:spcPts val="400"/>
              </a:spcBef>
              <a:defRPr sz="1100"/>
            </a:pPr>
            <a:r>
              <a:t>• All vulnerabilities within SLA</a:t>
            </a:r>
          </a:p>
          <a:p>
            <a:pPr>
              <a:spcBef>
                <a:spcPts val="400"/>
              </a:spcBef>
              <a:defRPr sz="1100"/>
            </a:pPr>
            <a:r>
              <a:t>• Eliminate EOL technologies</a:t>
            </a:r>
          </a:p>
          <a:p>
            <a:pPr>
              <a:spcBef>
                <a:spcPts val="400"/>
              </a:spcBef>
              <a:defRPr sz="1100"/>
            </a:pPr>
            <a:r>
              <a:t>• CoreX permission audit</a:t>
            </a:r>
          </a:p>
          <a:p>
            <a:pPr>
              <a:spcBef>
                <a:spcPts val="400"/>
              </a:spcBef>
              <a:defRPr sz="1100"/>
            </a:pPr>
            <a:r>
              <a:t>• Multi-person go-live audit</a:t>
            </a:r>
          </a:p>
          <a:p>
            <a:pPr>
              <a:spcBef>
                <a:spcPts val="400"/>
              </a:spcBef>
              <a:defRPr sz="1100"/>
            </a:pPr>
            <a:r>
              <a:t>• Customer empathy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/>
            </a:pPr>
            <a:r>
              <a:t>• Mongo &amp; Spring Upgrades - Mongo 8.X support</a:t>
            </a:r>
          </a:p>
          <a:p>
            <a:pPr>
              <a:spcBef>
                <a:spcPts val="400"/>
              </a:spcBef>
              <a:defRPr sz="1100"/>
            </a:pPr>
            <a:r>
              <a:t>• SSO: SAML Adapter - Protected Help sites</a:t>
            </a:r>
          </a:p>
          <a:p>
            <a:pPr>
              <a:spcBef>
                <a:spcPts val="400"/>
              </a:spcBef>
              <a:defRPr sz="1100"/>
            </a:pPr>
            <a:r>
              <a:t>• SSO: Liquibase Improvement - No release dysfunction</a:t>
            </a:r>
          </a:p>
          <a:p>
            <a:pPr>
              <a:spcBef>
                <a:spcPts val="400"/>
              </a:spcBef>
              <a:defRPr sz="1100"/>
            </a:pPr>
            <a:r>
              <a:t>• Red Mythos Exchange - In Progress (Aaron)</a:t>
            </a:r>
          </a:p>
          <a:p>
            <a:pPr>
              <a:spcBef>
                <a:spcPts val="400"/>
              </a:spcBef>
              <a:defRPr sz="1100"/>
            </a:pPr>
            <a:r>
              <a:t>• Multi-person go-live audit - Implemented</a:t>
            </a:r>
          </a:p>
          <a:p>
            <a:pPr>
              <a:spcBef>
                <a:spcPts val="400"/>
              </a:spcBef>
              <a:defRPr sz="1100"/>
            </a:pPr>
            <a:r>
              <a:t>• CoreX permission audit - Completed</a:t>
            </a:r>
          </a:p>
          <a:p>
            <a:pPr>
              <a:spcBef>
                <a:spcPts val="400"/>
              </a:spcBef>
              <a:defRPr sz="1100"/>
            </a:pPr>
            <a:r>
              <a:t>• Customer Empathy Training - Rolled out</a:t>
            </a:r>
          </a:p>
          <a:p>
            <a:pPr>
              <a:spcBef>
                <a:spcPts val="400"/>
              </a:spcBef>
              <a:defRPr sz="1100"/>
            </a:pPr>
            <a:r>
              <a:t>• Incident Management - Mature capability demonstrated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This Week's Incident - The Case for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What happened:</a:t>
            </a:r>
          </a:p>
          <a:p>
            <a:pPr>
              <a:spcBef>
                <a:spcPts val="600"/>
              </a:spcBef>
              <a:defRPr sz="1600"/>
            </a:pPr>
            <a:r>
              <a:t>• CoreX-ALL 2.273.x release → 6 simultaneous production issues</a:t>
            </a:r>
          </a:p>
          <a:p>
            <a:pPr>
              <a:spcBef>
                <a:spcPts val="600"/>
              </a:spcBef>
              <a:defRPr sz="1600"/>
            </a:pPr>
            <a:r>
              <a:t>• 21-hour sustained response + secondary hotfix rollback</a:t>
            </a:r>
          </a:p>
          <a:p>
            <a:pPr>
              <a:spcBef>
                <a:spcPts val="600"/>
              </a:spcBef>
              <a:defRPr sz="1600"/>
            </a:pPr>
            <a:r>
              <a:t>• AS2 failures, library conflicts, deployment pipeline failures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Root causes (per Daniel's analysis):</a:t>
            </a:r>
          </a:p>
          <a:p>
            <a:pPr>
              <a:spcBef>
                <a:spcPts val="600"/>
              </a:spcBef>
              <a:defRPr sz="1600"/>
            </a:pPr>
            <a:r>
              <a:t>1. Monolithic coupling - changes cascade everywhere</a:t>
            </a:r>
          </a:p>
          <a:p>
            <a:pPr>
              <a:spcBef>
                <a:spcPts val="600"/>
              </a:spcBef>
              <a:defRPr sz="1600"/>
            </a:pPr>
            <a:r>
              <a:t>2. Deployment pipeline fragility - couldn't deploy fixes or rollback</a:t>
            </a:r>
          </a:p>
          <a:p>
            <a:pPr>
              <a:spcBef>
                <a:spcPts val="600"/>
              </a:spcBef>
              <a:defRPr sz="1600"/>
            </a:pPr>
            <a:r>
              <a:t>3. Organizational handoff gaps - 18-month KT failure</a:t>
            </a:r>
          </a:p>
          <a:p>
            <a:pPr>
              <a:spcBef>
                <a:spcPts val="600"/>
              </a:spcBef>
              <a:defRPr sz="1600"/>
            </a:pPr>
            <a:r>
              <a:t>4. Testing environment gaps - issues not caught pre-production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Why it validates our strategy:</a:t>
            </a:r>
          </a:p>
          <a:p>
            <a:pPr>
              <a:spcBef>
                <a:spcPts val="600"/>
              </a:spcBef>
              <a:defRPr sz="1600"/>
            </a:pPr>
            <a:r>
              <a:t>• Every root cause addressed by autonomous teams + decoupling</a:t>
            </a:r>
          </a:p>
          <a:p>
            <a:pPr>
              <a:spcBef>
                <a:spcPts val="600"/>
              </a:spcBef>
              <a:defRPr sz="1600"/>
            </a:pPr>
            <a:r>
              <a:t>• Can't solve with process alone - need architectural transformation</a:t>
            </a:r>
          </a:p>
          <a:p>
            <a:pPr>
              <a:spcBef>
                <a:spcPts val="600"/>
              </a:spcBef>
              <a:defRPr sz="1600"/>
            </a:pPr>
            <a:r>
              <a:t>• The incident isn't a failure - it's proof we're working on the right problems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Current Focus - The Reverse Conway Maneuver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Strategic bet: Reorganize teams to force architectural decoupling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How it works:</a:t>
            </a:r>
          </a:p>
          <a:p>
            <a:pPr>
              <a:spcBef>
                <a:spcPts val="600"/>
              </a:spcBef>
              <a:defRPr sz="1600"/>
            </a:pPr>
            <a:r>
              <a:t>1. Create small, autonomous teams (3-5 engineers, cross-functional)</a:t>
            </a:r>
          </a:p>
          <a:p>
            <a:pPr>
              <a:spcBef>
                <a:spcPts val="600"/>
              </a:spcBef>
              <a:defRPr sz="1600"/>
            </a:pPr>
            <a:r>
              <a:t>2. Each team owns a bounded context (clear domain boundaries)</a:t>
            </a:r>
          </a:p>
          <a:p>
            <a:pPr>
              <a:spcBef>
                <a:spcPts val="600"/>
              </a:spcBef>
              <a:defRPr sz="1600"/>
            </a:pPr>
            <a:r>
              <a:t>3. Teams communicate via APIs (no shared databases/code)</a:t>
            </a:r>
          </a:p>
          <a:p>
            <a:pPr>
              <a:spcBef>
                <a:spcPts val="600"/>
              </a:spcBef>
              <a:defRPr sz="1600"/>
            </a:pPr>
            <a:r>
              <a:t>4. Conway's Law works FOR us (team structure drives architecture)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Expected outcomes:</a:t>
            </a:r>
          </a:p>
          <a:p>
            <a:pPr>
              <a:spcBef>
                <a:spcPts val="600"/>
              </a:spcBef>
              <a:defRPr sz="1600"/>
            </a:pPr>
            <a:r>
              <a:t>• Resiliency work becomes easier and more organic</a:t>
            </a:r>
          </a:p>
          <a:p>
            <a:pPr>
              <a:spcBef>
                <a:spcPts val="600"/>
              </a:spcBef>
              <a:defRPr sz="1600"/>
            </a:pPr>
            <a:r>
              <a:t>• Decoupling happens naturally</a:t>
            </a:r>
          </a:p>
          <a:p>
            <a:pPr>
              <a:spcBef>
                <a:spcPts val="600"/>
              </a:spcBef>
              <a:defRPr sz="1600"/>
            </a:pPr>
            <a:r>
              <a:t>• Incident blast radius shrinks (localized changes)</a:t>
            </a:r>
          </a:p>
          <a:p>
            <a:pPr>
              <a:spcBef>
                <a:spcPts val="600"/>
              </a:spcBef>
              <a:defRPr sz="1600"/>
            </a:pPr>
            <a:r>
              <a:t>• Development velocity increases</a:t>
            </a:r>
          </a:p>
          <a:p>
            <a:pPr>
              <a:spcBef>
                <a:spcPts val="600"/>
              </a:spcBef>
              <a:defRPr sz="1600"/>
            </a:pPr>
            <a:r>
              <a:t>• Testing becomes simpler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Current state: Org structure in place, aligning team/architectural boundaries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Current Work - Before Major Capacity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Priority work in flight: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1. Reverse Conway Maneuver (see previous slide)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2. Autonomous Teams Enablement</a:t>
            </a:r>
          </a:p>
          <a:p>
            <a:pPr>
              <a:spcBef>
                <a:spcPts val="600"/>
              </a:spcBef>
              <a:defRPr sz="1600"/>
            </a:pPr>
            <a:r>
              <a:t>   • Team charters and ownership boundaries</a:t>
            </a:r>
          </a:p>
          <a:p>
            <a:pPr>
              <a:spcBef>
                <a:spcPts val="600"/>
              </a:spcBef>
              <a:defRPr sz="1600"/>
            </a:pPr>
            <a:r>
              <a:t>   • API contracts and service boundaries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3. Continued Decoupling</a:t>
            </a:r>
          </a:p>
          <a:p>
            <a:pPr>
              <a:spcBef>
                <a:spcPts val="600"/>
              </a:spcBef>
              <a:defRPr sz="1600"/>
            </a:pPr>
            <a:r>
              <a:t>   • Breaking monolithic dependencies</a:t>
            </a:r>
          </a:p>
          <a:p>
            <a:pPr>
              <a:spcBef>
                <a:spcPts val="600"/>
              </a:spcBef>
              <a:defRPr sz="1600"/>
            </a:pPr>
            <a:r>
              <a:t>   • Service extraction from CoreX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4. P0 Database Items (from incident learnings)</a:t>
            </a:r>
          </a:p>
          <a:p>
            <a:pPr>
              <a:spcBef>
                <a:spcPts val="600"/>
              </a:spcBef>
              <a:defRPr sz="1600"/>
            </a:pPr>
            <a:r>
              <a:t>   • Audit DB reliability improvements</a:t>
            </a:r>
          </a:p>
          <a:p>
            <a:pPr>
              <a:spcBef>
                <a:spcPts val="600"/>
              </a:spcBef>
              <a:defRPr sz="1600"/>
            </a:pPr>
            <a:r>
              <a:t>   • BT/BD database work</a:t>
            </a:r>
          </a:p>
          <a:p>
            <a:pPr>
              <a:spcBef>
                <a:spcPts val="600"/>
              </a:spcBef>
              <a:defRPr sz="1600"/>
            </a:pPr>
            <a:r>
              <a:t>   • Data layer metrics and visibility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Timeline: Next 3-6 months before significant capacity shift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Remains - The Honest Technical Debt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Infrastructure &amp; Platform:</a:t>
            </a:r>
          </a:p>
          <a:p>
            <a:pPr>
              <a:spcBef>
                <a:spcPts val="600"/>
              </a:spcBef>
              <a:defRPr sz="1600"/>
            </a:pPr>
            <a:r>
              <a:t>• Continued DB layer improvements</a:t>
            </a:r>
          </a:p>
          <a:p>
            <a:pPr>
              <a:spcBef>
                <a:spcPts val="600"/>
              </a:spcBef>
              <a:defRPr sz="1600"/>
            </a:pPr>
            <a:r>
              <a:t>• True Service-Oriented Architecture (SOA)</a:t>
            </a:r>
          </a:p>
          <a:p>
            <a:pPr>
              <a:spcBef>
                <a:spcPts val="600"/>
              </a:spcBef>
              <a:defRPr sz="1600"/>
            </a:pPr>
            <a:r>
              <a:t>• Replace homegrown Event Bus with enterprise messaging</a:t>
            </a:r>
          </a:p>
          <a:p>
            <a:pPr>
              <a:spcBef>
                <a:spcPts val="600"/>
              </a:spcBef>
              <a:defRPr sz="1600"/>
            </a:pPr>
            <a:r>
              <a:t>• Replace homegrown IdP with Auth0</a:t>
            </a:r>
          </a:p>
          <a:p>
            <a:pPr>
              <a:spcBef>
                <a:spcPts val="600"/>
              </a:spcBef>
              <a:defRPr sz="1600"/>
            </a:pPr>
            <a:r>
              <a:t>• Kubernetes migration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Operations:</a:t>
            </a:r>
          </a:p>
          <a:p>
            <a:pPr>
              <a:spcBef>
                <a:spcPts val="600"/>
              </a:spcBef>
              <a:defRPr sz="1600"/>
            </a:pPr>
            <a:r>
              <a:t>• Automated testing maturity (E2E, chaos engineering)</a:t>
            </a:r>
          </a:p>
          <a:p>
            <a:pPr>
              <a:spcBef>
                <a:spcPts val="600"/>
              </a:spcBef>
              <a:defRPr sz="1600"/>
            </a:pPr>
            <a:r>
              <a:t>• DR automation beyond manual drills</a:t>
            </a:r>
          </a:p>
          <a:p>
            <a:pPr>
              <a:spcBef>
                <a:spcPts val="600"/>
              </a:spcBef>
              <a:defRPr sz="1600"/>
            </a:pPr>
            <a:r>
              <a:t>• Deployment pipeline standardization (Arshad's push)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Architecture:</a:t>
            </a:r>
          </a:p>
          <a:p>
            <a:pPr>
              <a:spcBef>
                <a:spcPts val="600"/>
              </a:spcBef>
              <a:defRPr sz="1600"/>
            </a:pPr>
            <a:r>
              <a:t>• Complete monolith deconstruction</a:t>
            </a:r>
          </a:p>
          <a:p>
            <a:pPr>
              <a:spcBef>
                <a:spcPts val="600"/>
              </a:spcBef>
              <a:defRPr sz="1600"/>
            </a:pPr>
            <a:r>
              <a:t>• API gateway and service mesh</a:t>
            </a:r>
          </a:p>
          <a:p>
            <a:pPr>
              <a:spcBef>
                <a:spcPts val="600"/>
              </a:spcBef>
              <a:defRPr sz="1600"/>
            </a:pPr>
            <a:r>
              <a:t>• Multi-region active-active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Need director input on priority ordering, resources, sequencing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Narrative - Connecting the Dots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2024: Heroic Firefighting</a:t>
            </a:r>
          </a:p>
          <a:p>
            <a:pPr>
              <a:spcBef>
                <a:spcPts val="600"/>
              </a:spcBef>
              <a:defRPr sz="1600"/>
            </a:pPr>
            <a:r>
              <a:t>• Large teams, reactive culture, monolithic architecture</a:t>
            </a:r>
          </a:p>
          <a:p>
            <a:pPr>
              <a:spcBef>
                <a:spcPts val="600"/>
              </a:spcBef>
              <a:defRPr sz="1600"/>
            </a:pPr>
            <a:r>
              <a:t>• Incidents required all-hands response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2025: Building the Foundation</a:t>
            </a:r>
          </a:p>
          <a:p>
            <a:pPr>
              <a:spcBef>
                <a:spcPts val="600"/>
              </a:spcBef>
              <a:defRPr sz="1600"/>
            </a:pPr>
            <a:r>
              <a:t>• Modern org structure (directors, managers, small teams)</a:t>
            </a:r>
          </a:p>
          <a:p>
            <a:pPr>
              <a:spcBef>
                <a:spcPts val="600"/>
              </a:spcBef>
              <a:defRPr sz="1600"/>
            </a:pPr>
            <a:r>
              <a:t>• Tactical resiliency work (DB migrations, DR drills)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2026: Enabling Autonomous Delivery</a:t>
            </a:r>
          </a:p>
          <a:p>
            <a:pPr>
              <a:spcBef>
                <a:spcPts val="600"/>
              </a:spcBef>
              <a:defRPr sz="1600"/>
            </a:pPr>
            <a:r>
              <a:t>• Reverse Conway Maneuver - org drives architecture</a:t>
            </a:r>
          </a:p>
          <a:p>
            <a:pPr>
              <a:spcBef>
                <a:spcPts val="600"/>
              </a:spcBef>
              <a:defRPr sz="1600"/>
            </a:pPr>
            <a:r>
              <a:t>• Teams becoming truly autonomous</a:t>
            </a:r>
          </a:p>
          <a:p>
            <a:pPr>
              <a:spcBef>
                <a:spcPts val="600"/>
              </a:spcBef>
              <a:defRPr sz="1600"/>
            </a:pPr>
            <a:r>
              <a:t>• Technical debt roadmap clear and sequenced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2027: World-Class Engineering</a:t>
            </a:r>
          </a:p>
          <a:p>
            <a:pPr>
              <a:spcBef>
                <a:spcPts val="600"/>
              </a:spcBef>
              <a:defRPr sz="1600"/>
            </a:pPr>
            <a:r>
              <a:t>• SOA fully realized</a:t>
            </a:r>
          </a:p>
          <a:p>
            <a:pPr>
              <a:spcBef>
                <a:spcPts val="600"/>
              </a:spcBef>
              <a:defRPr sz="1600"/>
            </a:pPr>
            <a:r>
              <a:t>• High-velocity, low-risk deployments (multiple per day)</a:t>
            </a:r>
          </a:p>
          <a:p>
            <a:pPr>
              <a:spcBef>
                <a:spcPts val="600"/>
              </a:spcBef>
              <a:defRPr sz="1600"/>
            </a:pPr>
            <a:r>
              <a:t>• Incident blast radius contained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This week's incident is part of the journey - not a detour from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Next Steps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400" b="1"/>
            </a:pPr>
            <a:r>
              <a:t>Immediate (this meeting):</a:t>
            </a:r>
          </a:p>
          <a:p>
            <a:pPr>
              <a:defRPr sz="1200"/>
            </a:pPr>
            <a:r>
              <a:t>• Alignment on transformation narrative</a:t>
            </a:r>
          </a:p>
          <a:p>
            <a:pPr>
              <a:defRPr sz="1200"/>
            </a:pPr>
            <a:r>
              <a:t>• Confirm priority of autonomous teams work</a:t>
            </a:r>
          </a:p>
          <a:p>
            <a:pPr>
              <a:defRPr sz="1200"/>
            </a:pPr>
            <a:r>
              <a:t>• Discuss capacity allocation timeline</a:t>
            </a:r>
          </a:p>
          <a:p>
            <a:pPr>
              <a:spcBef>
                <a:spcPts val="1200"/>
              </a:spcBef>
              <a:defRPr sz="1400" b="1"/>
            </a:pPr>
            <a:r>
              <a:t>Short-term (next 2 weeks):</a:t>
            </a:r>
          </a:p>
          <a:p>
            <a:pPr>
              <a:defRPr sz="1200"/>
            </a:pPr>
            <a:r>
              <a:t>• Complete June 22-24 incident RCA</a:t>
            </a:r>
          </a:p>
          <a:p>
            <a:pPr>
              <a:defRPr sz="1200"/>
            </a:pPr>
            <a:r>
              <a:t>• Publish blameless postmortem (EOD June 30)</a:t>
            </a:r>
          </a:p>
          <a:p>
            <a:pPr>
              <a:defRPr sz="1200"/>
            </a:pPr>
            <a:r>
              <a:t>• Launch CI/CD pipeline standardization</a:t>
            </a:r>
          </a:p>
          <a:p>
            <a:pPr>
              <a:spcBef>
                <a:spcPts val="1200"/>
              </a:spcBef>
              <a:defRPr sz="1400" b="1"/>
            </a:pPr>
            <a:r>
              <a:t>Medium-term (Q3 2026):</a:t>
            </a:r>
          </a:p>
          <a:p>
            <a:pPr>
              <a:defRPr sz="1200"/>
            </a:pPr>
            <a:r>
              <a:t>• P0 database work completion</a:t>
            </a:r>
          </a:p>
          <a:p>
            <a:pPr>
              <a:defRPr sz="1200"/>
            </a:pPr>
            <a:r>
              <a:t>• Autonomous team boundaries defined</a:t>
            </a:r>
          </a:p>
          <a:p>
            <a:pPr>
              <a:defRPr sz="1200"/>
            </a:pPr>
            <a:r>
              <a:t>• First wave service extractions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Discussion questions:</a:t>
            </a:r>
          </a:p>
          <a:p>
            <a:pPr>
              <a:spcBef>
                <a:spcPts val="800"/>
              </a:spcBef>
              <a:defRPr sz="1200"/>
            </a:pPr>
            <a:r>
              <a:t>• How do we balance incident learnings with forward momentum?</a:t>
            </a:r>
          </a:p>
          <a:p>
            <a:pPr>
              <a:spcBef>
                <a:spcPts val="800"/>
              </a:spcBef>
              <a:defRPr sz="1200"/>
            </a:pPr>
            <a:r>
              <a:t>• What's the confidence level on October 8 DR failover?</a:t>
            </a:r>
          </a:p>
          <a:p>
            <a:pPr>
              <a:spcBef>
                <a:spcPts val="800"/>
              </a:spcBef>
              <a:defRPr sz="1200"/>
            </a:pPr>
            <a:r>
              <a:t>• When should we communicate this transformation story more broadly?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