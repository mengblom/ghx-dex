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C12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99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84" y="2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Stories Completed (Jan-Mar)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 Completed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271</c:v>
                </c:pt>
                <c:pt idx="2">
                  <c:v>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B-A744-9862-96E73E4B7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Stories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Lead Time &amp; Cycle Time Improvement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 (days)</c:v>
                </c:pt>
              </c:strCache>
            </c:strRef>
          </c:tx>
          <c:spPr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33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E-DE44-AD13-CB10D32834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Cycle Time (days)</c:v>
                </c:pt>
              </c:strCache>
            </c:strRef>
          </c:tx>
          <c:spPr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</c:v>
                </c:pt>
                <c:pt idx="1">
                  <c:v>44</c:v>
                </c:pt>
                <c:pt idx="2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E-DE44-AD13-CB10D3283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Days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7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67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089124"/>
            <a:ext cx="932688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Modernization Update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2752725"/>
            <a:ext cx="93268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Progress, Resiliency &amp; Capacity Outlook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" y="3613100"/>
            <a:ext cx="93268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444401"/>
            <a:ext cx="0" cy="5238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444401"/>
            <a:ext cx="793452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88950" y="128572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88950" y="194295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Productivity Commentary - How are things going?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8950" y="2514451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8950" y="3171676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- Progress on key initiatives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8950" y="374317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440040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Forecast - When do we shift to more commercial?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Productivity: Positive Trends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795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6250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933450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Metrics: Foundation Building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6293" y="1706342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Changes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6293" y="2138092"/>
            <a:ext cx="7620000" cy="5968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"Reverse Conway Maneuver" for autonomous teams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6293" y="2988794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Upgrade &amp; Hiring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6293" y="3420544"/>
            <a:ext cx="7620000" cy="122604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Engineering Leadership upgrade</a:t>
            </a: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1 Director → 4 Directors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>
              <a:solidFill>
                <a:srgbClr val="34495E"/>
              </a:solidFill>
              <a:latin typeface="Arial" pitchFamily="34" charset="0"/>
              <a:cs typeface="Arial" pitchFamily="34" charset="-120"/>
            </a:endParaRP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3 EMs → 12 EMs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progress)</a:t>
            </a:r>
            <a:endParaRPr lang="en-US" sz="1500" dirty="0"/>
          </a:p>
          <a:p>
            <a:pPr marL="190500" indent="-190500" algn="l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IC roles being filled to enable independent delivery (in progress)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Update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657417"/>
              </p:ext>
            </p:extLst>
          </p:nvPr>
        </p:nvGraphicFramePr>
        <p:xfrm>
          <a:off x="507950" y="1101626"/>
          <a:ext cx="7772400" cy="330190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DB Migration to managed databases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Atlas Migration completion Aug 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Disaster Recovery (4h RTO, 2h RPO)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Lower env test: RTO 7h, RPO 0:15h. Internal Oct, External Dec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vulnerabilities within SLA / Eliminate EOL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Mixed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Red Mythos July 4 at risk, tracking end of July finish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Industry Continuity Solution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Building GHXi FTE team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Increase Modularity (Break the Monolith)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"Good enough" stage by end of Q4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Constraint: Breaking the Monolith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55527"/>
            <a:ext cx="7620000" cy="134600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355527"/>
            <a:ext cx="0" cy="134600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5650" y="1672977"/>
            <a:ext cx="7047077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will be incremental until we achieve Autonomous Teams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018979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"Autonomous Teams" mean?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533329"/>
            <a:ext cx="777240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can deploy independently, on demand, without coordinating with other teams - as long as no APIs, contracts, or data models are changed.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3714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- Phase 1 Definition of Done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232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End of Q4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241227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Org Change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574602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1909762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Teams Correctly Staffed &amp; Skilled (In Progress)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224088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Engineering Manager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Product Owner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roles filled</a:t>
            </a:r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Cross-functional upskilling in addition to development (CI/CD, Infra, Security, QE)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212455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Clear Ownership (In Progress)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526780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clear what each team owns (mutually exclusive, collectively exhaustive)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386194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Independent Deployment (In Progress </a:t>
            </a:r>
            <a:r>
              <a:rPr lang="en-US" sz="1600" b="1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some teams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176266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decoupled into standalone repos (or modular monolith)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own and operate deployment pipelines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coordination required for local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 before Capacity Shift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DO </a:t>
            </a:r>
            <a:b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(Cannot shift capacity until done)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4901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Data layer improvements: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2035076"/>
            <a:ext cx="3746599" cy="151536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stability &amp; scalability limitations</a:t>
            </a:r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cloud-native, infinitely scalable storage (DynamoDB, S3) where appropriate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data modelling according to read/write patterns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Thoughtful data retention policies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3626644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855244"/>
            <a:ext cx="3746599" cy="79578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/ Scalability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62500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BUT NEGOTIABLE</a:t>
            </a:r>
            <a:b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(Timing flexible)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62500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urgent, but trade-offs possible: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2500" y="2035076"/>
            <a:ext cx="3746599" cy="172982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Event/Messaging system (replace Mongo-based Event Bus)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Infinitely scalable queue processors/event subscribers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infra (containers, managed services vs EC2)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observability &amp; instrumentation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2500" y="3841104"/>
            <a:ext cx="382153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</a:t>
            </a:r>
          </a:p>
          <a:p>
            <a:pPr marL="171450" indent="-1714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Veritas/Kickdrum will likely comment on these gaps</a:t>
            </a:r>
          </a:p>
          <a:p>
            <a:pPr marL="171450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Still urgent, but timing and sequencing become a more “normal” discussion of tradeoffs between commercial / technical initiatives </a:t>
            </a:r>
            <a:b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(ROI vs. risk vs. scalability etc.)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4095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Capacity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MongoDB →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50275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14433" y="1371600"/>
            <a:ext cx="1093436" cy="274320"/>
          </a:xfrm>
          <a:prstGeom prst="rightArrow">
            <a:avLst>
              <a:gd name="adj1" fmla="val 50000"/>
              <a:gd name="adj2" fmla="val 39859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799" y="1828800"/>
            <a:ext cx="2171591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49402" y="1828800"/>
            <a:ext cx="702757" cy="274320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Red Mythos (Vuln/EOL)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0995" y="2286000"/>
            <a:ext cx="45356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74557" y="2286000"/>
            <a:ext cx="541127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 Teams / Break Monolith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38404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P0 Database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72100" y="3200400"/>
            <a:ext cx="1697544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Other (Messaging, Cloud-Native Infra, …)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59" y="3657600"/>
            <a:ext cx="3291841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</a:rPr>
              <a:t>Capacity (Com/Tech)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</a:p>
        </p:txBody>
      </p:sp>
      <p:sp>
        <p:nvSpPr>
          <p:cNvPr id="36" name="Shape 34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70/30</a:t>
            </a:r>
            <a:endParaRPr lang="en-US" sz="11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1A21D68-1E28-8970-8086-407692073C31}"/>
              </a:ext>
            </a:extLst>
          </p:cNvPr>
          <p:cNvSpPr/>
          <p:nvPr/>
        </p:nvSpPr>
        <p:spPr>
          <a:xfrm>
            <a:off x="5852159" y="2743200"/>
            <a:ext cx="949379" cy="274320"/>
          </a:xfrm>
          <a:prstGeom prst="rightArrow">
            <a:avLst>
              <a:gd name="adj1" fmla="val 50000"/>
              <a:gd name="adj2" fmla="val 34515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6C1FE8-E924-46A6-2A7A-611D28A904B3}"/>
              </a:ext>
            </a:extLst>
          </p:cNvPr>
          <p:cNvCxnSpPr/>
          <p:nvPr/>
        </p:nvCxnSpPr>
        <p:spPr>
          <a:xfrm>
            <a:off x="297180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F8E6E6-0050-F39E-A8D3-F35DE5806EBB}"/>
              </a:ext>
            </a:extLst>
          </p:cNvPr>
          <p:cNvCxnSpPr/>
          <p:nvPr/>
        </p:nvCxnSpPr>
        <p:spPr>
          <a:xfrm>
            <a:off x="393192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3EBDE-8C09-CAB0-B96C-A98607ECE576}"/>
              </a:ext>
            </a:extLst>
          </p:cNvPr>
          <p:cNvCxnSpPr/>
          <p:nvPr/>
        </p:nvCxnSpPr>
        <p:spPr>
          <a:xfrm>
            <a:off x="489590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5C39F1-D51A-2EA1-0C1D-DCC8BD1BEB5C}"/>
              </a:ext>
            </a:extLst>
          </p:cNvPr>
          <p:cNvCxnSpPr/>
          <p:nvPr/>
        </p:nvCxnSpPr>
        <p:spPr>
          <a:xfrm>
            <a:off x="585602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7F7A09-6689-5228-7067-E9BF4C0150FE}"/>
              </a:ext>
            </a:extLst>
          </p:cNvPr>
          <p:cNvCxnSpPr/>
          <p:nvPr/>
        </p:nvCxnSpPr>
        <p:spPr>
          <a:xfrm>
            <a:off x="681700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F3465F-2779-9732-9E8C-7ADFAA3A3233}"/>
              </a:ext>
            </a:extLst>
          </p:cNvPr>
          <p:cNvCxnSpPr/>
          <p:nvPr/>
        </p:nvCxnSpPr>
        <p:spPr>
          <a:xfrm>
            <a:off x="777712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48E226-E4F6-8C86-4B59-21138631030C}"/>
              </a:ext>
            </a:extLst>
          </p:cNvPr>
          <p:cNvCxnSpPr/>
          <p:nvPr/>
        </p:nvCxnSpPr>
        <p:spPr>
          <a:xfrm>
            <a:off x="8726511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Shape 17">
            <a:extLst>
              <a:ext uri="{FF2B5EF4-FFF2-40B4-BE49-F238E27FC236}">
                <a16:creationId xmlns:a16="http://schemas.microsoft.com/office/drawing/2014/main" id="{382DD494-F9FD-4F75-53F0-22CD0DC15ACC}"/>
              </a:ext>
            </a:extLst>
          </p:cNvPr>
          <p:cNvSpPr/>
          <p:nvPr/>
        </p:nvSpPr>
        <p:spPr>
          <a:xfrm>
            <a:off x="7074367" y="32004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2C1C666-5835-0DBD-10B5-C90A9CD09FC1}"/>
              </a:ext>
            </a:extLst>
          </p:cNvPr>
          <p:cNvSpPr/>
          <p:nvPr/>
        </p:nvSpPr>
        <p:spPr>
          <a:xfrm>
            <a:off x="4551947" y="1448659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84B7B30-0751-5CA1-5DAE-FD34DBA8F8EF}"/>
              </a:ext>
            </a:extLst>
          </p:cNvPr>
          <p:cNvSpPr/>
          <p:nvPr/>
        </p:nvSpPr>
        <p:spPr>
          <a:xfrm>
            <a:off x="5796904" y="19080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9C021EC-8E6A-8C9D-3356-330B031590FE}"/>
              </a:ext>
            </a:extLst>
          </p:cNvPr>
          <p:cNvSpPr/>
          <p:nvPr/>
        </p:nvSpPr>
        <p:spPr>
          <a:xfrm>
            <a:off x="4178459" y="2367352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61C4E9-D803-07EA-3B42-983B370E7793}"/>
              </a:ext>
            </a:extLst>
          </p:cNvPr>
          <p:cNvSpPr/>
          <p:nvPr/>
        </p:nvSpPr>
        <p:spPr>
          <a:xfrm>
            <a:off x="6762819" y="28224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321B91F-C6F1-6FA1-9E13-29B4A1F54AFD}"/>
              </a:ext>
            </a:extLst>
          </p:cNvPr>
          <p:cNvSpPr/>
          <p:nvPr/>
        </p:nvSpPr>
        <p:spPr>
          <a:xfrm>
            <a:off x="7715855" y="3286045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1972DF15-7E38-283D-533E-2FECB4179427}"/>
              </a:ext>
            </a:extLst>
          </p:cNvPr>
          <p:cNvSpPr/>
          <p:nvPr/>
        </p:nvSpPr>
        <p:spPr>
          <a:xfrm>
            <a:off x="6517259" y="154802"/>
            <a:ext cx="1394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Confidence:</a:t>
            </a:r>
            <a:endParaRPr lang="en-US" sz="11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A538984-EA6A-5930-868D-CBC6FAF7A3ED}"/>
              </a:ext>
            </a:extLst>
          </p:cNvPr>
          <p:cNvSpPr/>
          <p:nvPr/>
        </p:nvSpPr>
        <p:spPr>
          <a:xfrm>
            <a:off x="7994899" y="186141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D779DC6-6DFB-CC25-4838-BDED9E78642B}"/>
              </a:ext>
            </a:extLst>
          </p:cNvPr>
          <p:cNvSpPr/>
          <p:nvPr/>
        </p:nvSpPr>
        <p:spPr>
          <a:xfrm>
            <a:off x="7990605" y="36644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4D259B32-3032-8972-4C41-A287BC81EF81}"/>
              </a:ext>
            </a:extLst>
          </p:cNvPr>
          <p:cNvSpPr/>
          <p:nvPr/>
        </p:nvSpPr>
        <p:spPr>
          <a:xfrm>
            <a:off x="8184333" y="160856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1592C4CB-CB4A-497F-9D56-320044403BC1}"/>
              </a:ext>
            </a:extLst>
          </p:cNvPr>
          <p:cNvSpPr/>
          <p:nvPr/>
        </p:nvSpPr>
        <p:spPr>
          <a:xfrm>
            <a:off x="8184333" y="341161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618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4095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Capacity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MongoDB →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9202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771884" cy="274320"/>
          </a:xfrm>
          <a:prstGeom prst="rightArrow">
            <a:avLst>
              <a:gd name="adj1" fmla="val 50000"/>
              <a:gd name="adj2" fmla="val 28138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1828800"/>
            <a:ext cx="19202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1828800"/>
            <a:ext cx="960120" cy="274320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Red Mythos (Vuln/EOL)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0994" y="2286000"/>
            <a:ext cx="998961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19956" y="22860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 Teams / Break Monolith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38404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P0 Database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72100" y="3200400"/>
            <a:ext cx="2400300" cy="27432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Other (Messaging, Cloud-Native Infra)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92340" y="3657600"/>
            <a:ext cx="1851660" cy="27432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</a:rPr>
              <a:t>Capacity (Com/Tech)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</a:p>
        </p:txBody>
      </p:sp>
      <p:sp>
        <p:nvSpPr>
          <p:cNvPr id="36" name="Shape 34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70/30</a:t>
            </a:r>
            <a:endParaRPr lang="en-US" sz="11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1A21D68-1E28-8970-8086-407692073C31}"/>
              </a:ext>
            </a:extLst>
          </p:cNvPr>
          <p:cNvSpPr/>
          <p:nvPr/>
        </p:nvSpPr>
        <p:spPr>
          <a:xfrm>
            <a:off x="5852160" y="27432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6C1FE8-E924-46A6-2A7A-611D28A904B3}"/>
              </a:ext>
            </a:extLst>
          </p:cNvPr>
          <p:cNvCxnSpPr/>
          <p:nvPr/>
        </p:nvCxnSpPr>
        <p:spPr>
          <a:xfrm>
            <a:off x="297180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F8E6E6-0050-F39E-A8D3-F35DE5806EBB}"/>
              </a:ext>
            </a:extLst>
          </p:cNvPr>
          <p:cNvCxnSpPr/>
          <p:nvPr/>
        </p:nvCxnSpPr>
        <p:spPr>
          <a:xfrm>
            <a:off x="393192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3EBDE-8C09-CAB0-B96C-A98607ECE576}"/>
              </a:ext>
            </a:extLst>
          </p:cNvPr>
          <p:cNvCxnSpPr/>
          <p:nvPr/>
        </p:nvCxnSpPr>
        <p:spPr>
          <a:xfrm>
            <a:off x="489590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5C39F1-D51A-2EA1-0C1D-DCC8BD1BEB5C}"/>
              </a:ext>
            </a:extLst>
          </p:cNvPr>
          <p:cNvCxnSpPr/>
          <p:nvPr/>
        </p:nvCxnSpPr>
        <p:spPr>
          <a:xfrm>
            <a:off x="585602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7F7A09-6689-5228-7067-E9BF4C0150FE}"/>
              </a:ext>
            </a:extLst>
          </p:cNvPr>
          <p:cNvCxnSpPr/>
          <p:nvPr/>
        </p:nvCxnSpPr>
        <p:spPr>
          <a:xfrm>
            <a:off x="681700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F3465F-2779-9732-9E8C-7ADFAA3A3233}"/>
              </a:ext>
            </a:extLst>
          </p:cNvPr>
          <p:cNvCxnSpPr/>
          <p:nvPr/>
        </p:nvCxnSpPr>
        <p:spPr>
          <a:xfrm>
            <a:off x="777712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48E226-E4F6-8C86-4B59-21138631030C}"/>
              </a:ext>
            </a:extLst>
          </p:cNvPr>
          <p:cNvCxnSpPr/>
          <p:nvPr/>
        </p:nvCxnSpPr>
        <p:spPr>
          <a:xfrm>
            <a:off x="8726511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46587" y="2963763"/>
            <a:ext cx="19267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Risks and Mitigations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298377"/>
          <a:ext cx="8166199" cy="3502223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</a:tblGrid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Mitigations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MongoDB to Atlas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Minimal Risk at this point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mitigation needed at this point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Disaster Recovery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Unknown Unknowns, Outside dependencies on Exchange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Discovery work started, lower env dry runs, targeting Oct vs Dec for buffer, engaging teams outside Exchange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Red Mythos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 coupling → high complexity → big bang approach, large version jumps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Sequestered team on dedicated branch/env, heavy AI use for remediation and testing, all hands plan for merging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Autonomous Teams / Break Monolith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Impact from Atlas, DR, Red Mythos; Hiring (esp. India); High coupling; Unknown unknowns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Fast-tracking DR and Red Mythos, India comp flexibility, giving teams flexibility on reaching independent deployments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COMMON RISK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Competing priorities &amp; interference on same monolithic codebase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Laser focus Q3-Q4 (see next slide)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 Q4 Technical Laser Focus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901" y="1926431"/>
            <a:ext cx="7254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25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direction to teams for Q3 and Q4: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15901" y="2462957"/>
            <a:ext cx="7112198" cy="211588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63526" y="2462957"/>
            <a:ext cx="0" cy="2115889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601" y="2780407"/>
            <a:ext cx="65096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Technical Capacity - Three Buckets Only: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601" y="3301008"/>
            <a:ext cx="6382048" cy="96038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Mythos (Vulnerabilities &amp; EOL Technologies)</a:t>
            </a:r>
            <a:endParaRPr lang="en-US" sz="1400" dirty="0"/>
          </a:p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400" dirty="0"/>
          </a:p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/ Breaking the Monolith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667</Words>
  <Application>Microsoft Macintosh PowerPoint</Application>
  <PresentationFormat>On-screen Show (16:9)</PresentationFormat>
  <Paragraphs>140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Exchange Modernization Update - May 2026</dc:title>
  <dc:subject>PptxGenJS Presentation</dc:subject>
  <dc:creator>Marten Engblom</dc:creator>
  <cp:lastModifiedBy>Marten Engblom</cp:lastModifiedBy>
  <cp:revision>5</cp:revision>
  <dcterms:created xsi:type="dcterms:W3CDTF">2026-05-21T21:09:37Z</dcterms:created>
  <dcterms:modified xsi:type="dcterms:W3CDTF">2026-05-22T17:38:14Z</dcterms:modified>
</cp:coreProperties>
</file>