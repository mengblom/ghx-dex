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Productivity Trends (Jan - Mar 2026)</a:t>
            </a:r>
          </a:p>
        </c:rich>
      </c:tx>
      <c:layout/>
      <c:overlay val="0"/>
    </c:title>
    <c:autoTitleDeleted val="0"/>
    <c:plotArea>
      <c:layout/>
      <c:barChart>
        <c:barDir val="col"/>
        <c:grouping val="clustered"/>
        <c:varyColors val="0"/>
        <c:ser>
          <c:idx val="0"/>
          <c:order val="0"/>
          <c:tx>
            <c:strRef>
              <c:f>Sheet1!$B$1</c:f>
              <c:strCache>
                <c:ptCount val="1"/>
                <c:pt idx="0">
                  <c:v>Stories Completed</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Jan</c:v>
                  </c:pt>
                  <c:pt idx="1">
                    <c:v>Feb</c:v>
                  </c:pt>
                  <c:pt idx="2">
                    <c:v>Mar</c:v>
                  </c:pt>
                </c:lvl>
              </c:multiLvlStrCache>
            </c:multiLvlStrRef>
          </c:cat>
          <c:val>
            <c:numRef>
              <c:f>Sheet1!$B$2:$B$4</c:f>
              <c:numCache>
                <c:formatCode>General</c:formatCode>
                <c:ptCount val="3"/>
                <c:pt idx="0">
                  <c:v>207</c:v>
                </c:pt>
                <c:pt idx="1">
                  <c:v>271</c:v>
                </c:pt>
                <c:pt idx="2">
                  <c:v>386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Month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0"/>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Stories Completed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Q2 2026 (Baseline)</a:t>
            </a:r>
          </a:p>
        </c:rich>
      </c:tx>
      <c:layout/>
      <c:overlay val="0"/>
    </c:title>
    <c:autoTitleDeleted val="0"/>
    <c:plotArea>
      <c:layout/>
      <c:pieChart>
        <c:varyColors val="1"/>
        <c:ser>
          <c:idx val="0"/>
          <c:order val="0"/>
          <c:tx>
            <c:strRef>
              <c:f>Sheet1!$B$1</c:f>
              <c:strCache>
                <c:ptCount val="1"/>
                <c:pt idx="0">
                  <c:v>Q2 2026 (Baseline)</c:v>
                </c:pt>
              </c:strCache>
            </c:strRef>
          </c:tx>
          <c:spPr>
            <a:solidFill>
              <a:schemeClr val="accent1"/>
            </a:solidFill>
            <a:ln w="9525" cap="flat">
              <a:solidFill>
                <a:srgbClr val="F9F9F9"/>
              </a:solidFill>
              <a:prstDash val="solid"/>
              <a:round/>
            </a:ln>
            <a:effectLst/>
          </c:spPr>
          <c:dPt>
            <c:idx val="0"/>
            <c:bubble3D val="0"/>
            <c:spPr>
              <a:solidFill>
                <a:srgbClr val="E74C3C"/>
              </a:solidFill>
              <a:effectLst/>
            </c:spPr>
          </c:dPt>
          <c:dPt>
            <c:idx val="1"/>
            <c:bubble3D val="0"/>
            <c:spPr>
              <a:solidFill>
                <a:srgbClr val="2ECC71"/>
              </a:solidFill>
              <a:effectLst/>
            </c:spPr>
          </c:dPt>
          <c:dLbls>
            <c:dLbl>
              <c:idx val="0"/>
              <c:numFmt formatCode="0%" sourceLinked="0"/>
              <c:spPr/>
              <c:txPr>
                <a:bodyPr/>
                <a:lstStyle/>
                <a:p>
                  <a:pPr>
                    <a:defRPr sz="1000" b="0" i="0" u="none" strike="noStrike">
                      <a:solidFill>
                        <a:srgbClr val="000000"/>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000" b="0" i="0" u="none" strike="noStrike">
                      <a:solidFill>
                        <a:srgbClr val="000000"/>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Technical Work (70%)</c:v>
                </c:pt>
                <c:pt idx="1">
                  <c:v>Commercial Roadmap (30%)</c:v>
                </c:pt>
              </c:strCache>
            </c:strRef>
          </c:cat>
          <c:val>
            <c:numRef>
              <c:f>Sheet1!$B$2:$B$3</c:f>
              <c:numCache>
                <c:ptCount val="2"/>
                <c:pt idx="0">
                  <c:v>70</c:v>
                </c:pt>
                <c:pt idx="1">
                  <c:v>30</c:v>
                </c:pt>
              </c:numCache>
            </c:numRef>
          </c:val>
        </c:ser>
        <c:firstSliceAng val="0"/>
      </c:pie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Q3 2026 (Transition)</a:t>
            </a:r>
          </a:p>
        </c:rich>
      </c:tx>
      <c:layout/>
      <c:overlay val="0"/>
    </c:title>
    <c:autoTitleDeleted val="0"/>
    <c:plotArea>
      <c:layout/>
      <c:pieChart>
        <c:varyColors val="1"/>
        <c:ser>
          <c:idx val="0"/>
          <c:order val="0"/>
          <c:tx>
            <c:strRef>
              <c:f>Sheet1!$B$1</c:f>
              <c:strCache>
                <c:ptCount val="1"/>
                <c:pt idx="0">
                  <c:v>Q3 2026 (Transition)</c:v>
                </c:pt>
              </c:strCache>
            </c:strRef>
          </c:tx>
          <c:spPr>
            <a:solidFill>
              <a:schemeClr val="accent1"/>
            </a:solidFill>
            <a:ln w="9525" cap="flat">
              <a:solidFill>
                <a:srgbClr val="F9F9F9"/>
              </a:solidFill>
              <a:prstDash val="solid"/>
              <a:round/>
            </a:ln>
            <a:effectLst/>
          </c:spPr>
          <c:dPt>
            <c:idx val="0"/>
            <c:bubble3D val="0"/>
            <c:spPr>
              <a:solidFill>
                <a:srgbClr val="E74C3C"/>
              </a:solidFill>
              <a:effectLst/>
            </c:spPr>
          </c:dPt>
          <c:dPt>
            <c:idx val="1"/>
            <c:bubble3D val="0"/>
            <c:spPr>
              <a:solidFill>
                <a:srgbClr val="2ECC71"/>
              </a:solidFill>
              <a:effectLst/>
            </c:spPr>
          </c:dPt>
          <c:dLbls>
            <c:dLbl>
              <c:idx val="0"/>
              <c:numFmt formatCode="0%" sourceLinked="0"/>
              <c:spPr/>
              <c:txPr>
                <a:bodyPr/>
                <a:lstStyle/>
                <a:p>
                  <a:pPr>
                    <a:defRPr sz="1000" b="0" i="0" u="none" strike="noStrike">
                      <a:solidFill>
                        <a:srgbClr val="000000"/>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000" b="0" i="0" u="none" strike="noStrike">
                      <a:solidFill>
                        <a:srgbClr val="000000"/>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Technical Work (60%)</c:v>
                </c:pt>
                <c:pt idx="1">
                  <c:v>Commercial Roadmap (40%)</c:v>
                </c:pt>
              </c:strCache>
            </c:strRef>
          </c:cat>
          <c:val>
            <c:numRef>
              <c:f>Sheet1!$B$2:$B$3</c:f>
              <c:numCache>
                <c:ptCount val="2"/>
                <c:pt idx="0">
                  <c:v>60</c:v>
                </c:pt>
                <c:pt idx="1">
                  <c:v>40</c:v>
                </c:pt>
              </c:numCache>
            </c:numRef>
          </c:val>
        </c:ser>
        <c:firstSliceAng val="0"/>
      </c:pie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Q4 2026 (Stabilized)</a:t>
            </a:r>
          </a:p>
        </c:rich>
      </c:tx>
      <c:layout/>
      <c:overlay val="0"/>
    </c:title>
    <c:autoTitleDeleted val="0"/>
    <c:plotArea>
      <c:layout/>
      <c:pieChart>
        <c:varyColors val="1"/>
        <c:ser>
          <c:idx val="0"/>
          <c:order val="0"/>
          <c:tx>
            <c:strRef>
              <c:f>Sheet1!$B$1</c:f>
              <c:strCache>
                <c:ptCount val="1"/>
                <c:pt idx="0">
                  <c:v>Q4 2026 (Stabilized)</c:v>
                </c:pt>
              </c:strCache>
            </c:strRef>
          </c:tx>
          <c:spPr>
            <a:solidFill>
              <a:schemeClr val="accent1"/>
            </a:solidFill>
            <a:ln w="9525" cap="flat">
              <a:solidFill>
                <a:srgbClr val="F9F9F9"/>
              </a:solidFill>
              <a:prstDash val="solid"/>
              <a:round/>
            </a:ln>
            <a:effectLst/>
          </c:spPr>
          <c:dPt>
            <c:idx val="0"/>
            <c:bubble3D val="0"/>
            <c:spPr>
              <a:solidFill>
                <a:srgbClr val="E74C3C"/>
              </a:solidFill>
              <a:effectLst/>
            </c:spPr>
          </c:dPt>
          <c:dPt>
            <c:idx val="1"/>
            <c:bubble3D val="0"/>
            <c:spPr>
              <a:solidFill>
                <a:srgbClr val="2ECC71"/>
              </a:solidFill>
              <a:effectLst/>
            </c:spPr>
          </c:dPt>
          <c:dLbls>
            <c:dLbl>
              <c:idx val="0"/>
              <c:numFmt formatCode="0%" sourceLinked="0"/>
              <c:spPr/>
              <c:txPr>
                <a:bodyPr/>
                <a:lstStyle/>
                <a:p>
                  <a:pPr>
                    <a:defRPr sz="1000" b="0" i="0" u="none" strike="noStrike">
                      <a:solidFill>
                        <a:srgbClr val="000000"/>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000" b="0" i="0" u="none" strike="noStrike">
                      <a:solidFill>
                        <a:srgbClr val="000000"/>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Technical Work (50%)</c:v>
                </c:pt>
                <c:pt idx="1">
                  <c:v>Commercial Roadmap (50%)</c:v>
                </c:pt>
              </c:strCache>
            </c:strRef>
          </c:cat>
          <c:val>
            <c:numRef>
              <c:f>Sheet1!$B$2:$B$3</c:f>
              <c:numCache>
                <c:ptCount val="2"/>
                <c:pt idx="0">
                  <c:v>50</c:v>
                </c:pt>
                <c:pt idx="1">
                  <c:v>50</c:v>
                </c:pt>
              </c:numCache>
            </c:numRef>
          </c:val>
        </c:ser>
        <c:firstSliceAng val="0"/>
      </c:pie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Executive Summary</a:t>
            </a:r>
            <a:endParaRPr lang="en-US" sz="2800" dirty="0"/>
          </a:p>
        </p:txBody>
      </p:sp>
      <p:sp>
        <p:nvSpPr>
          <p:cNvPr id="4" name="Text 2"/>
          <p:cNvSpPr/>
          <p:nvPr/>
        </p:nvSpPr>
        <p:spPr>
          <a:xfrm>
            <a:off x="507950" y="1298377"/>
            <a:ext cx="2540050" cy="3464123"/>
          </a:xfrm>
          <a:prstGeom prst="rect">
            <a:avLst/>
          </a:prstGeom>
          <a:solidFill>
            <a:srgbClr val="F4F6F6"/>
          </a:solidFill>
          <a:ln/>
        </p:spPr>
        <p:txBody>
          <a:bodyPr wrap="square" rtlCol="0" anchor="ctr"/>
          <a:lstStyle/>
          <a:p>
            <a:pPr indent="0" marL="0">
              <a:buNone/>
            </a:pPr>
            <a:endParaRPr lang="en-US" dirty="0"/>
          </a:p>
        </p:txBody>
      </p:sp>
      <p:sp>
        <p:nvSpPr>
          <p:cNvPr id="5" name="Shape 3"/>
          <p:cNvSpPr/>
          <p:nvPr/>
        </p:nvSpPr>
        <p:spPr>
          <a:xfrm>
            <a:off x="531763" y="1298377"/>
            <a:ext cx="0" cy="3464123"/>
          </a:xfrm>
          <a:prstGeom prst="line">
            <a:avLst/>
          </a:prstGeom>
          <a:noFill/>
          <a:ln w="47625">
            <a:solidFill>
              <a:srgbClr val="1C2833"/>
            </a:solidFill>
            <a:prstDash val="solid"/>
          </a:ln>
        </p:spPr>
      </p:sp>
      <p:sp>
        <p:nvSpPr>
          <p:cNvPr id="6" name="Text 4"/>
          <p:cNvSpPr/>
          <p:nvPr/>
        </p:nvSpPr>
        <p:spPr>
          <a:xfrm>
            <a:off x="809476" y="1552277"/>
            <a:ext cx="2024316" cy="209550"/>
          </a:xfrm>
          <a:prstGeom prst="rect">
            <a:avLst/>
          </a:prstGeom>
          <a:noFill/>
          <a:ln/>
        </p:spPr>
        <p:txBody>
          <a:bodyPr wrap="square" lIns="0" tIns="0" rIns="0" bIns="0" rtlCol="0" anchor="t"/>
          <a:lstStyle/>
          <a:p>
            <a:pPr algn="l" indent="0" marL="0">
              <a:spcAft>
                <a:spcPts val="1000"/>
              </a:spcAft>
              <a:buNone/>
            </a:pPr>
            <a:r>
              <a:rPr lang="en-US" sz="1400" b="1" dirty="0">
                <a:solidFill>
                  <a:srgbClr val="1C2833"/>
                </a:solidFill>
                <a:latin typeface="Arial" pitchFamily="34" charset="0"/>
                <a:ea typeface="Arial" pitchFamily="34" charset="-122"/>
                <a:cs typeface="Arial" pitchFamily="34" charset="-120"/>
              </a:rPr>
              <a:t>PRODUCTIVITY</a:t>
            </a:r>
            <a:endParaRPr lang="en-US" sz="1400" dirty="0"/>
          </a:p>
        </p:txBody>
      </p:sp>
      <p:sp>
        <p:nvSpPr>
          <p:cNvPr id="7" name="Text 5"/>
          <p:cNvSpPr/>
          <p:nvPr/>
        </p:nvSpPr>
        <p:spPr>
          <a:xfrm>
            <a:off x="809476" y="1888778"/>
            <a:ext cx="2024316" cy="391120"/>
          </a:xfrm>
          <a:prstGeom prst="rect">
            <a:avLst/>
          </a:prstGeom>
          <a:noFill/>
          <a:ln/>
        </p:spPr>
        <p:txBody>
          <a:bodyPr wrap="square" lIns="0" tIns="0" rIns="0" bIns="0" rtlCol="0" anchor="t"/>
          <a:lstStyle/>
          <a:p>
            <a:pPr algn="l" indent="0" marL="0">
              <a:lnSpc>
                <a:spcPts val="1540"/>
              </a:lnSpc>
              <a:spcBef>
                <a:spcPts val="800"/>
              </a:spcBef>
              <a:spcAft>
                <a:spcPts val="800"/>
              </a:spcAft>
              <a:buNone/>
            </a:pPr>
            <a:r>
              <a:rPr lang="en-US" sz="1100" b="1" dirty="0">
                <a:solidFill>
                  <a:srgbClr val="1C2833"/>
                </a:solidFill>
                <a:latin typeface="Arial" pitchFamily="34" charset="0"/>
                <a:ea typeface="Arial" pitchFamily="34" charset="-122"/>
                <a:cs typeface="Arial" pitchFamily="34" charset="-120"/>
              </a:rPr>
              <a:t>Measurable improvement, structural ceiling remains</a:t>
            </a:r>
            <a:endParaRPr lang="en-US" sz="1100" dirty="0"/>
          </a:p>
        </p:txBody>
      </p:sp>
      <p:sp>
        <p:nvSpPr>
          <p:cNvPr id="8" name="Text 6"/>
          <p:cNvSpPr/>
          <p:nvPr/>
        </p:nvSpPr>
        <p:spPr>
          <a:xfrm>
            <a:off x="809476" y="2381399"/>
            <a:ext cx="1984623" cy="1466850"/>
          </a:xfrm>
          <a:prstGeom prst="rect">
            <a:avLst/>
          </a:prstGeom>
          <a:noFill/>
          <a:ln/>
        </p:spPr>
        <p:txBody>
          <a:bodyPr wrap="square" lIns="127000" tIns="0" rIns="0" bIns="0" rtlCol="0" anchor="t"/>
          <a:lstStyle/>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Stories completed up 86% (207→386)</a:t>
            </a:r>
            <a:endParaRPr lang="en-US" sz="1100" dirty="0"/>
          </a:p>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Cycle time down 48% (44→23 days)</a:t>
            </a:r>
            <a:endParaRPr lang="en-US" sz="1100" dirty="0"/>
          </a:p>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Gains are incremental until monolith + org structure changes complete</a:t>
            </a:r>
            <a:endParaRPr lang="en-US" sz="1100" dirty="0"/>
          </a:p>
        </p:txBody>
      </p:sp>
      <p:sp>
        <p:nvSpPr>
          <p:cNvPr id="9" name="Text 7"/>
          <p:cNvSpPr/>
          <p:nvPr/>
        </p:nvSpPr>
        <p:spPr>
          <a:xfrm>
            <a:off x="3301901" y="1298377"/>
            <a:ext cx="2540198" cy="3464123"/>
          </a:xfrm>
          <a:prstGeom prst="rect">
            <a:avLst/>
          </a:prstGeom>
          <a:solidFill>
            <a:srgbClr val="F4F6F6"/>
          </a:solidFill>
          <a:ln/>
        </p:spPr>
        <p:txBody>
          <a:bodyPr wrap="square" rtlCol="0" anchor="ctr"/>
          <a:lstStyle/>
          <a:p>
            <a:pPr indent="0" marL="0">
              <a:buNone/>
            </a:pPr>
            <a:endParaRPr lang="en-US" dirty="0"/>
          </a:p>
        </p:txBody>
      </p:sp>
      <p:sp>
        <p:nvSpPr>
          <p:cNvPr id="10" name="Shape 8"/>
          <p:cNvSpPr/>
          <p:nvPr/>
        </p:nvSpPr>
        <p:spPr>
          <a:xfrm>
            <a:off x="3325713" y="1298377"/>
            <a:ext cx="0" cy="3464123"/>
          </a:xfrm>
          <a:prstGeom prst="line">
            <a:avLst/>
          </a:prstGeom>
          <a:noFill/>
          <a:ln w="47625">
            <a:solidFill>
              <a:srgbClr val="1C2833"/>
            </a:solidFill>
            <a:prstDash val="solid"/>
          </a:ln>
        </p:spPr>
      </p:sp>
      <p:sp>
        <p:nvSpPr>
          <p:cNvPr id="11" name="Text 9"/>
          <p:cNvSpPr/>
          <p:nvPr/>
        </p:nvSpPr>
        <p:spPr>
          <a:xfrm>
            <a:off x="3603427" y="1552277"/>
            <a:ext cx="2024467" cy="419100"/>
          </a:xfrm>
          <a:prstGeom prst="rect">
            <a:avLst/>
          </a:prstGeom>
          <a:noFill/>
          <a:ln/>
        </p:spPr>
        <p:txBody>
          <a:bodyPr wrap="square" lIns="0" tIns="0" rIns="0" bIns="0" rtlCol="0" anchor="t"/>
          <a:lstStyle/>
          <a:p>
            <a:pPr algn="l" indent="0" marL="0">
              <a:spcAft>
                <a:spcPts val="1000"/>
              </a:spcAft>
              <a:buNone/>
            </a:pPr>
            <a:r>
              <a:rPr lang="en-US" sz="1400" b="1" dirty="0">
                <a:solidFill>
                  <a:srgbClr val="1C2833"/>
                </a:solidFill>
                <a:latin typeface="Arial" pitchFamily="34" charset="0"/>
                <a:ea typeface="Arial" pitchFamily="34" charset="-122"/>
                <a:cs typeface="Arial" pitchFamily="34" charset="-120"/>
              </a:rPr>
              <a:t>RESILIENCY - "WHEN ARE WE DONE?"</a:t>
            </a:r>
            <a:endParaRPr lang="en-US" sz="1400" dirty="0"/>
          </a:p>
        </p:txBody>
      </p:sp>
      <p:sp>
        <p:nvSpPr>
          <p:cNvPr id="12" name="Text 10"/>
          <p:cNvSpPr/>
          <p:nvPr/>
        </p:nvSpPr>
        <p:spPr>
          <a:xfrm>
            <a:off x="3603427" y="2098328"/>
            <a:ext cx="2024467" cy="195560"/>
          </a:xfrm>
          <a:prstGeom prst="rect">
            <a:avLst/>
          </a:prstGeom>
          <a:noFill/>
          <a:ln/>
        </p:spPr>
        <p:txBody>
          <a:bodyPr wrap="square" lIns="0" tIns="0" rIns="0" bIns="0" rtlCol="0" anchor="t"/>
          <a:lstStyle/>
          <a:p>
            <a:pPr algn="l" indent="0" marL="0">
              <a:lnSpc>
                <a:spcPts val="1540"/>
              </a:lnSpc>
              <a:spcBef>
                <a:spcPts val="800"/>
              </a:spcBef>
              <a:spcAft>
                <a:spcPts val="800"/>
              </a:spcAft>
              <a:buNone/>
            </a:pPr>
            <a:r>
              <a:rPr lang="en-US" sz="1100" b="1" dirty="0">
                <a:solidFill>
                  <a:srgbClr val="1C2833"/>
                </a:solidFill>
                <a:latin typeface="Arial" pitchFamily="34" charset="0"/>
                <a:ea typeface="Arial" pitchFamily="34" charset="-122"/>
                <a:cs typeface="Arial" pitchFamily="34" charset="-120"/>
              </a:rPr>
              <a:t>2 Must-Do</a:t>
            </a:r>
            <a:endParaRPr lang="en-US" sz="1100" dirty="0"/>
          </a:p>
        </p:txBody>
      </p:sp>
      <p:sp>
        <p:nvSpPr>
          <p:cNvPr id="13" name="Text 11"/>
          <p:cNvSpPr/>
          <p:nvPr/>
        </p:nvSpPr>
        <p:spPr>
          <a:xfrm>
            <a:off x="3603427" y="2395389"/>
            <a:ext cx="1984772" cy="1257300"/>
          </a:xfrm>
          <a:prstGeom prst="rect">
            <a:avLst/>
          </a:prstGeom>
          <a:noFill/>
          <a:ln/>
        </p:spPr>
        <p:txBody>
          <a:bodyPr wrap="square" lIns="127000" tIns="0" rIns="0" bIns="0" rtlCol="0" anchor="t"/>
          <a:lstStyle/>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12 autonomous teams deploying independently (70% org work done)</a:t>
            </a:r>
            <a:endParaRPr lang="en-US" sz="1100" dirty="0"/>
          </a:p>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Data layer modernization (MongoDB → purpose-built stores)</a:t>
            </a:r>
            <a:endParaRPr lang="en-US" sz="1100" dirty="0"/>
          </a:p>
        </p:txBody>
      </p:sp>
      <p:sp>
        <p:nvSpPr>
          <p:cNvPr id="14" name="Text 12"/>
          <p:cNvSpPr/>
          <p:nvPr/>
        </p:nvSpPr>
        <p:spPr>
          <a:xfrm>
            <a:off x="6096000" y="1298377"/>
            <a:ext cx="2540050" cy="3464123"/>
          </a:xfrm>
          <a:prstGeom prst="rect">
            <a:avLst/>
          </a:prstGeom>
          <a:solidFill>
            <a:srgbClr val="F4F6F6"/>
          </a:solidFill>
          <a:ln/>
        </p:spPr>
        <p:txBody>
          <a:bodyPr wrap="square" rtlCol="0" anchor="ctr"/>
          <a:lstStyle/>
          <a:p>
            <a:pPr indent="0" marL="0">
              <a:buNone/>
            </a:pPr>
            <a:endParaRPr lang="en-US" dirty="0"/>
          </a:p>
        </p:txBody>
      </p:sp>
      <p:sp>
        <p:nvSpPr>
          <p:cNvPr id="15" name="Shape 13"/>
          <p:cNvSpPr/>
          <p:nvPr/>
        </p:nvSpPr>
        <p:spPr>
          <a:xfrm>
            <a:off x="6119813" y="1298377"/>
            <a:ext cx="0" cy="3464123"/>
          </a:xfrm>
          <a:prstGeom prst="line">
            <a:avLst/>
          </a:prstGeom>
          <a:noFill/>
          <a:ln w="47625">
            <a:solidFill>
              <a:srgbClr val="1C2833"/>
            </a:solidFill>
            <a:prstDash val="solid"/>
          </a:ln>
        </p:spPr>
      </p:sp>
      <p:sp>
        <p:nvSpPr>
          <p:cNvPr id="16" name="Text 14"/>
          <p:cNvSpPr/>
          <p:nvPr/>
        </p:nvSpPr>
        <p:spPr>
          <a:xfrm>
            <a:off x="6397526" y="1552277"/>
            <a:ext cx="2024316" cy="209550"/>
          </a:xfrm>
          <a:prstGeom prst="rect">
            <a:avLst/>
          </a:prstGeom>
          <a:noFill/>
          <a:ln/>
        </p:spPr>
        <p:txBody>
          <a:bodyPr wrap="square" lIns="0" tIns="0" rIns="0" bIns="0" rtlCol="0" anchor="t"/>
          <a:lstStyle/>
          <a:p>
            <a:pPr algn="l" indent="0" marL="0">
              <a:spcAft>
                <a:spcPts val="1000"/>
              </a:spcAft>
              <a:buNone/>
            </a:pPr>
            <a:r>
              <a:rPr lang="en-US" sz="1400" b="1" dirty="0">
                <a:solidFill>
                  <a:srgbClr val="1C2833"/>
                </a:solidFill>
                <a:latin typeface="Arial" pitchFamily="34" charset="0"/>
                <a:ea typeface="Arial" pitchFamily="34" charset="-122"/>
                <a:cs typeface="Arial" pitchFamily="34" charset="-120"/>
              </a:rPr>
              <a:t>CAPACITY FORECAST</a:t>
            </a:r>
            <a:endParaRPr lang="en-US" sz="1400" dirty="0"/>
          </a:p>
        </p:txBody>
      </p:sp>
      <p:sp>
        <p:nvSpPr>
          <p:cNvPr id="17" name="Text 15"/>
          <p:cNvSpPr/>
          <p:nvPr/>
        </p:nvSpPr>
        <p:spPr>
          <a:xfrm>
            <a:off x="6397526" y="1888778"/>
            <a:ext cx="2024316" cy="391120"/>
          </a:xfrm>
          <a:prstGeom prst="rect">
            <a:avLst/>
          </a:prstGeom>
          <a:noFill/>
          <a:ln/>
        </p:spPr>
        <p:txBody>
          <a:bodyPr wrap="square" lIns="0" tIns="0" rIns="0" bIns="0" rtlCol="0" anchor="t"/>
          <a:lstStyle/>
          <a:p>
            <a:pPr algn="l" indent="0" marL="0">
              <a:lnSpc>
                <a:spcPts val="1540"/>
              </a:lnSpc>
              <a:spcBef>
                <a:spcPts val="800"/>
              </a:spcBef>
              <a:spcAft>
                <a:spcPts val="800"/>
              </a:spcAft>
              <a:buNone/>
            </a:pPr>
            <a:r>
              <a:rPr lang="en-US" sz="1100" b="1" dirty="0">
                <a:solidFill>
                  <a:srgbClr val="1C2833"/>
                </a:solidFill>
                <a:latin typeface="Arial" pitchFamily="34" charset="0"/>
                <a:ea typeface="Arial" pitchFamily="34" charset="-122"/>
                <a:cs typeface="Arial" pitchFamily="34" charset="-120"/>
              </a:rPr>
              <a:t>Shift from reactive to strategic</a:t>
            </a:r>
            <a:endParaRPr lang="en-US" sz="1100" dirty="0"/>
          </a:p>
        </p:txBody>
      </p:sp>
      <p:sp>
        <p:nvSpPr>
          <p:cNvPr id="18" name="Text 16"/>
          <p:cNvSpPr/>
          <p:nvPr/>
        </p:nvSpPr>
        <p:spPr>
          <a:xfrm>
            <a:off x="6397526" y="2381399"/>
            <a:ext cx="1984623" cy="838200"/>
          </a:xfrm>
          <a:prstGeom prst="rect">
            <a:avLst/>
          </a:prstGeom>
          <a:noFill/>
          <a:ln/>
        </p:spPr>
        <p:txBody>
          <a:bodyPr wrap="square" lIns="127000" tIns="0" rIns="0" bIns="0" rtlCol="0" anchor="t"/>
          <a:lstStyle/>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Q2: 60% firefighting / 40% strategic</a:t>
            </a:r>
            <a:endParaRPr lang="en-US" sz="1100" dirty="0"/>
          </a:p>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Q4: 30% firefighting / 70% strategic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Today's Agenda</a:t>
            </a:r>
            <a:endParaRPr lang="en-US" sz="2800" dirty="0"/>
          </a:p>
        </p:txBody>
      </p:sp>
      <p:sp>
        <p:nvSpPr>
          <p:cNvPr id="4" name="Text 2"/>
          <p:cNvSpPr/>
          <p:nvPr/>
        </p:nvSpPr>
        <p:spPr>
          <a:xfrm>
            <a:off x="1015901" y="2116038"/>
            <a:ext cx="7112198" cy="1828800"/>
          </a:xfrm>
          <a:prstGeom prst="rect">
            <a:avLst/>
          </a:prstGeom>
          <a:noFill/>
          <a:ln/>
        </p:spPr>
        <p:txBody>
          <a:bodyPr wrap="square" lIns="190500" tIns="0" rIns="0" bIns="0" rtlCol="0" anchor="t"/>
          <a:lstStyle/>
          <a:p>
            <a:pPr algn="l" marL="190500" indent="-190500">
              <a:lnSpc>
                <a:spcPts val="3600"/>
              </a:lnSpc>
              <a:buSzPct val="100000"/>
              <a:buChar char="•"/>
            </a:pPr>
            <a:r>
              <a:rPr lang="en-US" sz="1800" dirty="0">
                <a:solidFill>
                  <a:srgbClr val="1C2833"/>
                </a:solidFill>
                <a:latin typeface="Arial" pitchFamily="34" charset="0"/>
                <a:ea typeface="Arial" pitchFamily="34" charset="-122"/>
                <a:cs typeface="Arial" pitchFamily="34" charset="-120"/>
              </a:rPr>
              <a:t>Commentary / State of the Union on Productivity Improvements</a:t>
            </a:r>
            <a:endParaRPr lang="en-US" sz="1800" dirty="0"/>
          </a:p>
          <a:p>
            <a:pPr algn="l" marL="190500" indent="-190500">
              <a:lnSpc>
                <a:spcPts val="3600"/>
              </a:lnSpc>
              <a:buSzPct val="100000"/>
              <a:buChar char="•"/>
            </a:pPr>
            <a:r>
              <a:rPr lang="en-US" sz="1800" dirty="0">
                <a:solidFill>
                  <a:srgbClr val="1C2833"/>
                </a:solidFill>
                <a:latin typeface="Arial" pitchFamily="34" charset="0"/>
                <a:ea typeface="Arial" pitchFamily="34" charset="-122"/>
                <a:cs typeface="Arial" pitchFamily="34" charset="-120"/>
              </a:rPr>
              <a:t>Update on Exchange Resiliency Work</a:t>
            </a:r>
            <a:endParaRPr lang="en-US" sz="1800" dirty="0"/>
          </a:p>
          <a:p>
            <a:pPr algn="l" marL="190500" indent="-190500">
              <a:lnSpc>
                <a:spcPts val="3600"/>
              </a:lnSpc>
              <a:buSzPct val="100000"/>
              <a:buChar char="•"/>
            </a:pPr>
            <a:r>
              <a:rPr lang="en-US" sz="1800" dirty="0">
                <a:solidFill>
                  <a:srgbClr val="1C2833"/>
                </a:solidFill>
                <a:latin typeface="Arial" pitchFamily="34" charset="0"/>
                <a:ea typeface="Arial" pitchFamily="34" charset="-122"/>
                <a:cs typeface="Arial" pitchFamily="34" charset="-120"/>
              </a:rPr>
              <a:t>Capacity Planning Forecast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Productivity - The Data</a:t>
            </a:r>
            <a:endParaRPr lang="en-US" sz="2800" dirty="0"/>
          </a:p>
        </p:txBody>
      </p:sp>
      <p:sp>
        <p:nvSpPr>
          <p:cNvPr id="4" name="Text 2"/>
          <p:cNvSpPr/>
          <p:nvPr/>
        </p:nvSpPr>
        <p:spPr>
          <a:xfrm>
            <a:off x="507950" y="1298377"/>
            <a:ext cx="4145179" cy="238125"/>
          </a:xfrm>
          <a:prstGeom prst="rect">
            <a:avLst/>
          </a:prstGeom>
          <a:noFill/>
          <a:ln/>
        </p:spPr>
        <p:txBody>
          <a:bodyPr wrap="square" lIns="0" tIns="0" rIns="0" bIns="0" rtlCol="0" anchor="t"/>
          <a:lstStyle/>
          <a:p>
            <a:pPr algn="l" indent="0" marL="0">
              <a:spcAft>
                <a:spcPts val="1500"/>
              </a:spcAft>
              <a:buNone/>
            </a:pPr>
            <a:r>
              <a:rPr lang="en-US" sz="1600" b="1" dirty="0">
                <a:solidFill>
                  <a:srgbClr val="1C2833"/>
                </a:solidFill>
                <a:latin typeface="Arial" pitchFamily="34" charset="0"/>
                <a:ea typeface="Arial" pitchFamily="34" charset="-122"/>
                <a:cs typeface="Arial" pitchFamily="34" charset="-120"/>
              </a:rPr>
              <a:t>4-Month Trends (Jan → Mar)</a:t>
            </a:r>
            <a:endParaRPr lang="en-US" sz="1600" dirty="0"/>
          </a:p>
        </p:txBody>
      </p:sp>
      <p:sp>
        <p:nvSpPr>
          <p:cNvPr id="5" name="Text 3"/>
          <p:cNvSpPr/>
          <p:nvPr/>
        </p:nvSpPr>
        <p:spPr>
          <a:xfrm>
            <a:off x="507950" y="1727002"/>
            <a:ext cx="4145179" cy="152400"/>
          </a:xfrm>
          <a:prstGeom prst="rect">
            <a:avLst/>
          </a:prstGeom>
          <a:noFill/>
          <a:ln/>
        </p:spPr>
        <p:txBody>
          <a:bodyPr wrap="square" lIns="0" tIns="0" rIns="0" bIns="0" rtlCol="0" anchor="t"/>
          <a:lstStyle/>
          <a:p>
            <a:pPr algn="l" indent="0" marL="0">
              <a:spcAft>
                <a:spcPts val="500"/>
              </a:spcAft>
              <a:buNone/>
            </a:pPr>
            <a:r>
              <a:rPr lang="en-US" sz="1100" b="1" dirty="0">
                <a:solidFill>
                  <a:srgbClr val="2E4053"/>
                </a:solidFill>
                <a:latin typeface="Arial" pitchFamily="34" charset="0"/>
                <a:ea typeface="Arial" pitchFamily="34" charset="-122"/>
                <a:cs typeface="Arial" pitchFamily="34" charset="-120"/>
              </a:rPr>
              <a:t>Stories Completed</a:t>
            </a:r>
            <a:endParaRPr lang="en-US" sz="1100" dirty="0"/>
          </a:p>
        </p:txBody>
      </p:sp>
      <p:sp>
        <p:nvSpPr>
          <p:cNvPr id="6" name="Text 4"/>
          <p:cNvSpPr/>
          <p:nvPr/>
        </p:nvSpPr>
        <p:spPr>
          <a:xfrm>
            <a:off x="507950" y="1942802"/>
            <a:ext cx="4145179" cy="238125"/>
          </a:xfrm>
          <a:prstGeom prst="rect">
            <a:avLst/>
          </a:prstGeom>
          <a:noFill/>
          <a:ln/>
        </p:spPr>
        <p:txBody>
          <a:bodyPr wrap="square" lIns="0" tIns="0" rIns="0" bIns="0" rtlCol="0" anchor="t"/>
          <a:lstStyle/>
          <a:p>
            <a:pPr algn="l" indent="0" marL="0">
              <a:buNone/>
            </a:pPr>
            <a:r>
              <a:rPr lang="en-US" sz="1600" b="1" dirty="0">
                <a:solidFill>
                  <a:srgbClr val="1C2833"/>
                </a:solidFill>
                <a:latin typeface="Arial" pitchFamily="34" charset="0"/>
                <a:ea typeface="Arial" pitchFamily="34" charset="-122"/>
                <a:cs typeface="Arial" pitchFamily="34" charset="-120"/>
              </a:rPr>
              <a:t>207 → 271 → 386 (+86%)</a:t>
            </a:r>
            <a:endParaRPr lang="en-US" sz="1600" dirty="0"/>
          </a:p>
        </p:txBody>
      </p:sp>
      <p:sp>
        <p:nvSpPr>
          <p:cNvPr id="7" name="Text 5"/>
          <p:cNvSpPr/>
          <p:nvPr/>
        </p:nvSpPr>
        <p:spPr>
          <a:xfrm>
            <a:off x="507950" y="2371427"/>
            <a:ext cx="4145179" cy="152400"/>
          </a:xfrm>
          <a:prstGeom prst="rect">
            <a:avLst/>
          </a:prstGeom>
          <a:noFill/>
          <a:ln/>
        </p:spPr>
        <p:txBody>
          <a:bodyPr wrap="square" lIns="0" tIns="0" rIns="0" bIns="0" rtlCol="0" anchor="t"/>
          <a:lstStyle/>
          <a:p>
            <a:pPr algn="l" indent="0" marL="0">
              <a:spcAft>
                <a:spcPts val="500"/>
              </a:spcAft>
              <a:buNone/>
            </a:pPr>
            <a:r>
              <a:rPr lang="en-US" sz="1100" b="1" dirty="0">
                <a:solidFill>
                  <a:srgbClr val="2E4053"/>
                </a:solidFill>
                <a:latin typeface="Arial" pitchFamily="34" charset="0"/>
                <a:ea typeface="Arial" pitchFamily="34" charset="-122"/>
                <a:cs typeface="Arial" pitchFamily="34" charset="-120"/>
              </a:rPr>
              <a:t>Lead Time to Change</a:t>
            </a:r>
            <a:endParaRPr lang="en-US" sz="1100" dirty="0"/>
          </a:p>
        </p:txBody>
      </p:sp>
      <p:sp>
        <p:nvSpPr>
          <p:cNvPr id="8" name="Text 6"/>
          <p:cNvSpPr/>
          <p:nvPr/>
        </p:nvSpPr>
        <p:spPr>
          <a:xfrm>
            <a:off x="507950" y="2587228"/>
            <a:ext cx="4145179" cy="238125"/>
          </a:xfrm>
          <a:prstGeom prst="rect">
            <a:avLst/>
          </a:prstGeom>
          <a:noFill/>
          <a:ln/>
        </p:spPr>
        <p:txBody>
          <a:bodyPr wrap="square" lIns="0" tIns="0" rIns="0" bIns="0" rtlCol="0" anchor="t"/>
          <a:lstStyle/>
          <a:p>
            <a:pPr algn="l" indent="0" marL="0">
              <a:buNone/>
            </a:pPr>
            <a:r>
              <a:rPr lang="en-US" sz="1600" b="1" dirty="0">
                <a:solidFill>
                  <a:srgbClr val="1C2833"/>
                </a:solidFill>
                <a:latin typeface="Arial" pitchFamily="34" charset="0"/>
                <a:ea typeface="Arial" pitchFamily="34" charset="-122"/>
                <a:cs typeface="Arial" pitchFamily="34" charset="-120"/>
              </a:rPr>
              <a:t>30 → 33 → 8 days (-73%)</a:t>
            </a:r>
            <a:endParaRPr lang="en-US" sz="1600" dirty="0"/>
          </a:p>
        </p:txBody>
      </p:sp>
      <p:sp>
        <p:nvSpPr>
          <p:cNvPr id="9" name="Text 7"/>
          <p:cNvSpPr/>
          <p:nvPr/>
        </p:nvSpPr>
        <p:spPr>
          <a:xfrm>
            <a:off x="507950" y="3015853"/>
            <a:ext cx="4145179" cy="152400"/>
          </a:xfrm>
          <a:prstGeom prst="rect">
            <a:avLst/>
          </a:prstGeom>
          <a:noFill/>
          <a:ln/>
        </p:spPr>
        <p:txBody>
          <a:bodyPr wrap="square" lIns="0" tIns="0" rIns="0" bIns="0" rtlCol="0" anchor="t"/>
          <a:lstStyle/>
          <a:p>
            <a:pPr algn="l" indent="0" marL="0">
              <a:spcAft>
                <a:spcPts val="500"/>
              </a:spcAft>
              <a:buNone/>
            </a:pPr>
            <a:r>
              <a:rPr lang="en-US" sz="1100" b="1" dirty="0">
                <a:solidFill>
                  <a:srgbClr val="2E4053"/>
                </a:solidFill>
                <a:latin typeface="Arial" pitchFamily="34" charset="0"/>
                <a:ea typeface="Arial" pitchFamily="34" charset="-122"/>
                <a:cs typeface="Arial" pitchFamily="34" charset="-120"/>
              </a:rPr>
              <a:t>Cycle Time</a:t>
            </a:r>
            <a:endParaRPr lang="en-US" sz="1100" dirty="0"/>
          </a:p>
        </p:txBody>
      </p:sp>
      <p:sp>
        <p:nvSpPr>
          <p:cNvPr id="10" name="Text 8"/>
          <p:cNvSpPr/>
          <p:nvPr/>
        </p:nvSpPr>
        <p:spPr>
          <a:xfrm>
            <a:off x="507950" y="3231654"/>
            <a:ext cx="4145179" cy="238125"/>
          </a:xfrm>
          <a:prstGeom prst="rect">
            <a:avLst/>
          </a:prstGeom>
          <a:noFill/>
          <a:ln/>
        </p:spPr>
        <p:txBody>
          <a:bodyPr wrap="square" lIns="0" tIns="0" rIns="0" bIns="0" rtlCol="0" anchor="t"/>
          <a:lstStyle/>
          <a:p>
            <a:pPr algn="l" indent="0" marL="0">
              <a:buNone/>
            </a:pPr>
            <a:r>
              <a:rPr lang="en-US" sz="1600" b="1" dirty="0">
                <a:solidFill>
                  <a:srgbClr val="1C2833"/>
                </a:solidFill>
                <a:latin typeface="Arial" pitchFamily="34" charset="0"/>
                <a:ea typeface="Arial" pitchFamily="34" charset="-122"/>
                <a:cs typeface="Arial" pitchFamily="34" charset="-120"/>
              </a:rPr>
              <a:t>44 → 44 → 23 days (-48%)</a:t>
            </a:r>
            <a:endParaRPr lang="en-US" sz="1600" dirty="0"/>
          </a:p>
        </p:txBody>
      </p:sp>
      <p:sp>
        <p:nvSpPr>
          <p:cNvPr id="11" name="Text 9"/>
          <p:cNvSpPr/>
          <p:nvPr/>
        </p:nvSpPr>
        <p:spPr>
          <a:xfrm>
            <a:off x="507950" y="3723680"/>
            <a:ext cx="4145179" cy="171450"/>
          </a:xfrm>
          <a:prstGeom prst="rect">
            <a:avLst/>
          </a:prstGeom>
          <a:noFill/>
          <a:ln/>
        </p:spPr>
        <p:txBody>
          <a:bodyPr wrap="square" lIns="0" tIns="0" rIns="0" bIns="0" rtlCol="0" anchor="t"/>
          <a:lstStyle/>
          <a:p>
            <a:pPr algn="l" indent="0" marL="0">
              <a:spcBef>
                <a:spcPts val="2000"/>
              </a:spcBef>
              <a:spcAft>
                <a:spcPts val="1000"/>
              </a:spcAft>
              <a:buNone/>
            </a:pPr>
            <a:r>
              <a:rPr lang="en-US" sz="1200" b="1" dirty="0">
                <a:solidFill>
                  <a:srgbClr val="2E4053"/>
                </a:solidFill>
                <a:latin typeface="Arial" pitchFamily="34" charset="0"/>
                <a:ea typeface="Arial" pitchFamily="34" charset="-122"/>
                <a:cs typeface="Arial" pitchFamily="34" charset="-120"/>
              </a:rPr>
              <a:t>Also:</a:t>
            </a:r>
            <a:endParaRPr lang="en-US" sz="1200" dirty="0"/>
          </a:p>
        </p:txBody>
      </p:sp>
      <p:sp>
        <p:nvSpPr>
          <p:cNvPr id="12" name="Text 10"/>
          <p:cNvSpPr/>
          <p:nvPr/>
        </p:nvSpPr>
        <p:spPr>
          <a:xfrm>
            <a:off x="507950" y="4022080"/>
            <a:ext cx="4063901" cy="628650"/>
          </a:xfrm>
          <a:prstGeom prst="rect">
            <a:avLst/>
          </a:prstGeom>
          <a:noFill/>
          <a:ln/>
        </p:spPr>
        <p:txBody>
          <a:bodyPr wrap="square" lIns="127000" tIns="0" rIns="0" bIns="0" rtlCol="0" anchor="t"/>
          <a:lstStyle/>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Last 3 releases clean (no major incidents)</a:t>
            </a:r>
            <a:endParaRPr lang="en-US" sz="1100" dirty="0"/>
          </a:p>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AI library launched (Claude Code adoption growing)</a:t>
            </a:r>
            <a:endParaRPr lang="en-US" sz="1100" dirty="0"/>
          </a:p>
          <a:p>
            <a:pPr algn="l" marL="127000" indent="-127000">
              <a:lnSpc>
                <a:spcPts val="1650"/>
              </a:lnSpc>
              <a:buSzPct val="100000"/>
              <a:buChar char="•"/>
            </a:pPr>
            <a:r>
              <a:rPr lang="en-US" sz="1100" dirty="0">
                <a:solidFill>
                  <a:srgbClr val="2E4053"/>
                </a:solidFill>
                <a:latin typeface="Arial" pitchFamily="34" charset="0"/>
                <a:ea typeface="Arial" pitchFamily="34" charset="-122"/>
                <a:cs typeface="Arial" pitchFamily="34" charset="-120"/>
              </a:rPr>
              <a:t>Exchange Health Score beta (leading indicator dashboard)</a:t>
            </a:r>
            <a:endParaRPr lang="en-US" sz="1100" dirty="0"/>
          </a:p>
        </p:txBody>
      </p:sp>
      <p:sp>
        <p:nvSpPr>
          <p:cNvPr id="13" name="Text 11"/>
          <p:cNvSpPr/>
          <p:nvPr/>
        </p:nvSpPr>
        <p:spPr>
          <a:xfrm>
            <a:off x="5873204" y="2963763"/>
            <a:ext cx="1788411" cy="171450"/>
          </a:xfrm>
          <a:prstGeom prst="rect">
            <a:avLst/>
          </a:prstGeom>
          <a:noFill/>
          <a:ln/>
        </p:spPr>
        <p:txBody>
          <a:bodyPr wrap="square" lIns="0" tIns="0" rIns="0" bIns="0" rtlCol="0" anchor="t"/>
          <a:lstStyle/>
          <a:p>
            <a:pPr algn="l" indent="0" marL="0">
              <a:buNone/>
            </a:pPr>
            <a:r>
              <a:rPr lang="en-US" sz="1200" dirty="0">
                <a:solidFill>
                  <a:srgbClr val="7F8C8D"/>
                </a:solidFill>
                <a:latin typeface="Arial" pitchFamily="34" charset="0"/>
                <a:ea typeface="Arial" pitchFamily="34" charset="-122"/>
                <a:cs typeface="Arial" pitchFamily="34" charset="-120"/>
              </a:rPr>
              <a:t>Chart: Productivity Trends</a:t>
            </a:r>
            <a:endParaRPr lang="en-US" sz="1200" dirty="0"/>
          </a:p>
        </p:txBody>
      </p:sp>
      <p:graphicFrame>
        <p:nvGraphicFramePr>
          <p:cNvPr id="14" name="Chart 0" descr=""/>
          <p:cNvGraphicFramePr/>
          <p:nvPr/>
        </p:nvGraphicFramePr>
        <p:xfrm>
          <a:off x="4825752" y="1298377"/>
          <a:ext cx="3848398" cy="3502223"/>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Productivity - Challenges</a:t>
            </a:r>
            <a:endParaRPr lang="en-US" sz="2800" dirty="0"/>
          </a:p>
        </p:txBody>
      </p:sp>
      <p:sp>
        <p:nvSpPr>
          <p:cNvPr id="4" name="Text 2"/>
          <p:cNvSpPr/>
          <p:nvPr/>
        </p:nvSpPr>
        <p:spPr>
          <a:xfrm>
            <a:off x="507950" y="1234827"/>
            <a:ext cx="4015841" cy="209550"/>
          </a:xfrm>
          <a:prstGeom prst="rect">
            <a:avLst/>
          </a:prstGeom>
          <a:noFill/>
          <a:ln/>
        </p:spPr>
        <p:txBody>
          <a:bodyPr wrap="square" lIns="0" tIns="0" rIns="0" bIns="0" rtlCol="0" anchor="t"/>
          <a:lstStyle/>
          <a:p>
            <a:pPr algn="l" indent="0" marL="0">
              <a:spcAft>
                <a:spcPts val="1200"/>
              </a:spcAft>
              <a:buNone/>
            </a:pPr>
            <a:r>
              <a:rPr lang="en-US" sz="1400" b="1" dirty="0">
                <a:solidFill>
                  <a:srgbClr val="1C2833"/>
                </a:solidFill>
                <a:latin typeface="Arial" pitchFamily="34" charset="0"/>
                <a:ea typeface="Arial" pitchFamily="34" charset="-122"/>
                <a:cs typeface="Arial" pitchFamily="34" charset="-120"/>
              </a:rPr>
              <a:t>TECHNICAL &amp; ORGANIZATIONAL</a:t>
            </a:r>
            <a:endParaRPr lang="en-US" sz="1400" dirty="0"/>
          </a:p>
        </p:txBody>
      </p:sp>
      <p:sp>
        <p:nvSpPr>
          <p:cNvPr id="5" name="Text 3"/>
          <p:cNvSpPr/>
          <p:nvPr/>
        </p:nvSpPr>
        <p:spPr>
          <a:xfrm>
            <a:off x="507950" y="1596777"/>
            <a:ext cx="3937099" cy="853083"/>
          </a:xfrm>
          <a:prstGeom prst="rect">
            <a:avLst/>
          </a:prstGeom>
          <a:noFill/>
          <a:ln/>
        </p:spPr>
        <p:txBody>
          <a:bodyPr wrap="square" lIns="127000" tIns="0" rIns="0" bIns="0" rtlCol="0" anchor="t"/>
          <a:lstStyle/>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The monolith (testing/risk/blast radius bottleneck)</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The org was also "monolithic" (1 director, 80 people) — we're solving this</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Culture debt (fear of releasing, "everything is a project")</a:t>
            </a:r>
            <a:endParaRPr lang="en-US" sz="1050" dirty="0"/>
          </a:p>
        </p:txBody>
      </p:sp>
      <p:sp>
        <p:nvSpPr>
          <p:cNvPr id="6" name="Text 4"/>
          <p:cNvSpPr/>
          <p:nvPr/>
        </p:nvSpPr>
        <p:spPr>
          <a:xfrm>
            <a:off x="4698950" y="1234827"/>
            <a:ext cx="4015841" cy="209550"/>
          </a:xfrm>
          <a:prstGeom prst="rect">
            <a:avLst/>
          </a:prstGeom>
          <a:noFill/>
          <a:ln/>
        </p:spPr>
        <p:txBody>
          <a:bodyPr wrap="square" lIns="0" tIns="0" rIns="0" bIns="0" rtlCol="0" anchor="t"/>
          <a:lstStyle/>
          <a:p>
            <a:pPr algn="l" indent="0" marL="0">
              <a:spcAft>
                <a:spcPts val="1200"/>
              </a:spcAft>
              <a:buNone/>
            </a:pPr>
            <a:r>
              <a:rPr lang="en-US" sz="1400" b="1" dirty="0">
                <a:solidFill>
                  <a:srgbClr val="1C2833"/>
                </a:solidFill>
                <a:latin typeface="Arial" pitchFamily="34" charset="0"/>
                <a:ea typeface="Arial" pitchFamily="34" charset="-122"/>
                <a:cs typeface="Arial" pitchFamily="34" charset="-120"/>
              </a:rPr>
              <a:t>PROCESS &amp; VISIBILITY</a:t>
            </a:r>
            <a:endParaRPr lang="en-US" sz="1400" dirty="0"/>
          </a:p>
        </p:txBody>
      </p:sp>
      <p:sp>
        <p:nvSpPr>
          <p:cNvPr id="7" name="Text 5"/>
          <p:cNvSpPr/>
          <p:nvPr/>
        </p:nvSpPr>
        <p:spPr>
          <a:xfrm>
            <a:off x="4698950" y="1596777"/>
            <a:ext cx="3937099" cy="1492895"/>
          </a:xfrm>
          <a:prstGeom prst="rect">
            <a:avLst/>
          </a:prstGeom>
          <a:noFill/>
          <a:ln/>
        </p:spPr>
        <p:txBody>
          <a:bodyPr wrap="square" lIns="127000" tIns="0" rIns="0" bIns="0" rtlCol="0" anchor="t"/>
          <a:lstStyle/>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Visibility/reporting problem (roadmaps at epic level, always a new data request)</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Competing priorities, "show your progress" asks</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Product-Engineering engagement (best practice: 1-1 PO to EM, we don't have that)</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Large opportunity cost at leadership level (hands-on leadership required through change)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Productivity - In Summary</a:t>
            </a:r>
            <a:endParaRPr lang="en-US" sz="2800" dirty="0"/>
          </a:p>
        </p:txBody>
      </p:sp>
      <p:sp>
        <p:nvSpPr>
          <p:cNvPr id="4" name="Text 2"/>
          <p:cNvSpPr/>
          <p:nvPr/>
        </p:nvSpPr>
        <p:spPr>
          <a:xfrm>
            <a:off x="1015901" y="1654671"/>
            <a:ext cx="7112198" cy="2751534"/>
          </a:xfrm>
          <a:prstGeom prst="rect">
            <a:avLst/>
          </a:prstGeom>
          <a:solidFill>
            <a:srgbClr val="F4F6F6"/>
          </a:solidFill>
          <a:ln/>
        </p:spPr>
        <p:txBody>
          <a:bodyPr wrap="square" rtlCol="0" anchor="ctr"/>
          <a:lstStyle/>
          <a:p>
            <a:pPr indent="0" marL="0">
              <a:buNone/>
            </a:pPr>
            <a:endParaRPr lang="en-US" dirty="0"/>
          </a:p>
        </p:txBody>
      </p:sp>
      <p:sp>
        <p:nvSpPr>
          <p:cNvPr id="5" name="Shape 3"/>
          <p:cNvSpPr/>
          <p:nvPr/>
        </p:nvSpPr>
        <p:spPr>
          <a:xfrm>
            <a:off x="1054001" y="1654671"/>
            <a:ext cx="0" cy="2751534"/>
          </a:xfrm>
          <a:prstGeom prst="line">
            <a:avLst/>
          </a:prstGeom>
          <a:noFill/>
          <a:ln w="76200">
            <a:solidFill>
              <a:srgbClr val="1C2833"/>
            </a:solidFill>
            <a:prstDash val="solid"/>
          </a:ln>
        </p:spPr>
      </p:sp>
      <p:sp>
        <p:nvSpPr>
          <p:cNvPr id="6" name="Text 4"/>
          <p:cNvSpPr/>
          <p:nvPr/>
        </p:nvSpPr>
        <p:spPr>
          <a:xfrm>
            <a:off x="1473101" y="2035671"/>
            <a:ext cx="6399478" cy="590550"/>
          </a:xfrm>
          <a:prstGeom prst="rect">
            <a:avLst/>
          </a:prstGeom>
          <a:noFill/>
          <a:ln/>
        </p:spPr>
        <p:txBody>
          <a:bodyPr wrap="square" lIns="0" tIns="0" rIns="0" bIns="0" rtlCol="0" anchor="t"/>
          <a:lstStyle/>
          <a:p>
            <a:pPr algn="l" indent="0" marL="0">
              <a:spcAft>
                <a:spcPts val="1500"/>
              </a:spcAft>
              <a:buNone/>
            </a:pPr>
            <a:r>
              <a:rPr lang="en-US" sz="2000" b="1" dirty="0">
                <a:solidFill>
                  <a:srgbClr val="1C2833"/>
                </a:solidFill>
                <a:latin typeface="Arial" pitchFamily="34" charset="0"/>
                <a:ea typeface="Arial" pitchFamily="34" charset="-122"/>
                <a:cs typeface="Arial" pitchFamily="34" charset="-120"/>
              </a:rPr>
              <a:t>We are making incremental productivity improvements.</a:t>
            </a:r>
            <a:endParaRPr lang="en-US" sz="2000" dirty="0"/>
          </a:p>
        </p:txBody>
      </p:sp>
      <p:sp>
        <p:nvSpPr>
          <p:cNvPr id="7" name="Text 5"/>
          <p:cNvSpPr/>
          <p:nvPr/>
        </p:nvSpPr>
        <p:spPr>
          <a:xfrm>
            <a:off x="1473101" y="2816721"/>
            <a:ext cx="6399478" cy="528042"/>
          </a:xfrm>
          <a:prstGeom prst="rect">
            <a:avLst/>
          </a:prstGeom>
          <a:noFill/>
          <a:ln/>
        </p:spPr>
        <p:txBody>
          <a:bodyPr wrap="square" lIns="0" tIns="0" rIns="0" bIns="0" rtlCol="0" anchor="t"/>
          <a:lstStyle/>
          <a:p>
            <a:pPr algn="l" indent="0" marL="0">
              <a:lnSpc>
                <a:spcPts val="2080"/>
              </a:lnSpc>
              <a:spcAft>
                <a:spcPts val="1200"/>
              </a:spcAft>
              <a:buNone/>
            </a:pPr>
            <a:r>
              <a:rPr lang="en-US" sz="1300" dirty="0">
                <a:solidFill>
                  <a:srgbClr val="2E4053"/>
                </a:solidFill>
                <a:latin typeface="Arial" pitchFamily="34" charset="0"/>
                <a:ea typeface="Arial" pitchFamily="34" charset="-122"/>
                <a:cs typeface="Arial" pitchFamily="34" charset="-120"/>
              </a:rPr>
              <a:t>As long as we operate in a monolithic codebase, deployment footprint, and team structure, improvements will be incremental rather than transformational.</a:t>
            </a:r>
            <a:endParaRPr lang="en-US" sz="1300" dirty="0"/>
          </a:p>
        </p:txBody>
      </p:sp>
      <p:sp>
        <p:nvSpPr>
          <p:cNvPr id="8" name="Text 6"/>
          <p:cNvSpPr/>
          <p:nvPr/>
        </p:nvSpPr>
        <p:spPr>
          <a:xfrm>
            <a:off x="1473101" y="3497163"/>
            <a:ext cx="6399478" cy="528042"/>
          </a:xfrm>
          <a:prstGeom prst="rect">
            <a:avLst/>
          </a:prstGeom>
          <a:noFill/>
          <a:ln/>
        </p:spPr>
        <p:txBody>
          <a:bodyPr wrap="square" lIns="0" tIns="0" rIns="0" bIns="0" rtlCol="0" anchor="t"/>
          <a:lstStyle/>
          <a:p>
            <a:pPr algn="l" indent="0" marL="0">
              <a:lnSpc>
                <a:spcPts val="2080"/>
              </a:lnSpc>
              <a:buNone/>
            </a:pPr>
            <a:r>
              <a:rPr lang="en-US" sz="1300" dirty="0">
                <a:solidFill>
                  <a:srgbClr val="2E4053"/>
                </a:solidFill>
                <a:latin typeface="Arial" pitchFamily="34" charset="0"/>
                <a:ea typeface="Arial" pitchFamily="34" charset="-122"/>
                <a:cs typeface="Arial" pitchFamily="34" charset="-120"/>
              </a:rPr>
              <a:t>The org transformation (1 director → 4 directors, 12 EMs) is the foundation for exponential gains.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Other Resiliency Priorities - Scorecard</a:t>
            </a:r>
            <a:endParaRPr lang="en-US" sz="2800" dirty="0"/>
          </a:p>
        </p:txBody>
      </p:sp>
      <p:sp>
        <p:nvSpPr>
          <p:cNvPr id="4" name="Text 2"/>
          <p:cNvSpPr/>
          <p:nvPr/>
        </p:nvSpPr>
        <p:spPr>
          <a:xfrm>
            <a:off x="3782020" y="2963763"/>
            <a:ext cx="1650269" cy="171450"/>
          </a:xfrm>
          <a:prstGeom prst="rect">
            <a:avLst/>
          </a:prstGeom>
          <a:noFill/>
          <a:ln/>
        </p:spPr>
        <p:txBody>
          <a:bodyPr wrap="square" lIns="0" tIns="0" rIns="0" bIns="0" rtlCol="0" anchor="t"/>
          <a:lstStyle/>
          <a:p>
            <a:pPr algn="l" indent="0" marL="0">
              <a:buNone/>
            </a:pPr>
            <a:r>
              <a:rPr lang="en-US" sz="1200" dirty="0">
                <a:solidFill>
                  <a:srgbClr val="7F8C8D"/>
                </a:solidFill>
                <a:latin typeface="Arial" pitchFamily="34" charset="0"/>
                <a:ea typeface="Arial" pitchFamily="34" charset="-122"/>
                <a:cs typeface="Arial" pitchFamily="34" charset="-120"/>
              </a:rPr>
              <a:t>Table: Resiliency Status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7950" y="1298377"/>
          <a:ext cx="8166199" cy="3502223"/>
        </p:xfrm>
        <a:graphic>
          <a:graphicData uri="http://schemas.openxmlformats.org/drawingml/2006/table">
            <a:tbl>
              <a:tblPr/>
              <a:tblGrid>
                <a:gridCol w="2286000"/>
                <a:gridCol w="1371600"/>
                <a:gridCol w="4114800"/>
              </a:tblGrid>
              <a:tr h="500318">
                <a:tc>
                  <a:txBody>
                    <a:bodyPr/>
                    <a:lstStyle/>
                    <a:p>
                      <a:pPr algn="l" indent="0" marL="0">
                        <a:buNone/>
                      </a:pPr>
                      <a:r>
                        <a:rPr lang="en-US" sz="1000" b="1" dirty="0">
                          <a:solidFill>
                            <a:srgbClr val="FFFFFF"/>
                          </a:solidFill>
                        </a:rPr>
                        <a:t>Priority</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C2833"/>
                    </a:solidFill>
                  </a:tcPr>
                </a:tc>
                <a:tc>
                  <a:txBody>
                    <a:bodyPr/>
                    <a:lstStyle/>
                    <a:p>
                      <a:pPr algn="l" indent="0" marL="0">
                        <a:buNone/>
                      </a:pPr>
                      <a:r>
                        <a:rPr lang="en-US" sz="1000" b="1" dirty="0">
                          <a:solidFill>
                            <a:srgbClr val="FFFFFF"/>
                          </a:solidFill>
                        </a:rPr>
                        <a:t>Status</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C2833"/>
                    </a:solidFill>
                  </a:tcPr>
                </a:tc>
                <a:tc>
                  <a:txBody>
                    <a:bodyPr/>
                    <a:lstStyle/>
                    <a:p>
                      <a:pPr algn="l" indent="0" marL="0">
                        <a:buNone/>
                      </a:pPr>
                      <a:r>
                        <a:rPr lang="en-US" sz="1000" b="1" dirty="0">
                          <a:solidFill>
                            <a:srgbClr val="FFFFFF"/>
                          </a:solidFill>
                        </a:rPr>
                        <a:t>Notes</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C2833"/>
                    </a:solidFill>
                  </a:tcPr>
                </a:tc>
              </a:tr>
              <a:tr h="500318">
                <a:tc>
                  <a:txBody>
                    <a:bodyPr/>
                    <a:lstStyle/>
                    <a:p>
                      <a:pPr algn="l" indent="0" marL="0">
                        <a:buNone/>
                      </a:pPr>
                      <a:r>
                        <a:rPr lang="en-US" sz="1000" dirty="0">
                          <a:solidFill>
                            <a:srgbClr val="000000"/>
                          </a:solidFill>
                        </a:rPr>
                        <a:t>DB Migration to Managed Databases</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 On track</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Atlas Migration completion Aug 29</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00318">
                <a:tc>
                  <a:txBody>
                    <a:bodyPr/>
                    <a:lstStyle/>
                    <a:p>
                      <a:pPr algn="l" indent="0" marL="0">
                        <a:buNone/>
                      </a:pPr>
                      <a:r>
                        <a:rPr lang="en-US" sz="1000" dirty="0">
                          <a:solidFill>
                            <a:srgbClr val="000000"/>
                          </a:solidFill>
                        </a:rPr>
                        <a:t>DR Test (RTO/RPO)</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 On track</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Lower environment test: RTO 4:45, RPO 0:15. Internal target October, External comms December</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00318">
                <a:tc>
                  <a:txBody>
                    <a:bodyPr/>
                    <a:lstStyle/>
                    <a:p>
                      <a:pPr algn="l" indent="0" marL="0">
                        <a:buNone/>
                      </a:pPr>
                      <a:r>
                        <a:rPr lang="en-US" sz="1000" dirty="0">
                          <a:solidFill>
                            <a:srgbClr val="000000"/>
                          </a:solidFill>
                        </a:rPr>
                        <a:t>Red Mythos/Vulnerabilities</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 Complex</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Monolith dependencies - targeting July 2 completion</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00318">
                <a:tc>
                  <a:txBody>
                    <a:bodyPr/>
                    <a:lstStyle/>
                    <a:p>
                      <a:pPr algn="l" indent="0" marL="0">
                        <a:buNone/>
                      </a:pPr>
                      <a:r>
                        <a:rPr lang="en-US" sz="1000" dirty="0">
                          <a:solidFill>
                            <a:srgbClr val="000000"/>
                          </a:solidFill>
                        </a:rPr>
                        <a:t>EOL Technologies</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 Complex</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Atlas, Elasticsearch, Java upgrades, OSS upgrades</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00318">
                <a:tc>
                  <a:txBody>
                    <a:bodyPr/>
                    <a:lstStyle/>
                    <a:p>
                      <a:pPr algn="l" indent="0" marL="0">
                        <a:buNone/>
                      </a:pPr>
                      <a:r>
                        <a:rPr lang="en-US" sz="1000" dirty="0">
                          <a:solidFill>
                            <a:srgbClr val="000000"/>
                          </a:solidFill>
                        </a:rPr>
                        <a:t>ICS (Industry Continuity)</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 On track</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Building FTE team to own this (transitioning from contractors)</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00318">
                <a:tc>
                  <a:txBody>
                    <a:bodyPr/>
                    <a:lstStyle/>
                    <a:p>
                      <a:pPr algn="l" indent="0" marL="0">
                        <a:buNone/>
                      </a:pPr>
                      <a:r>
                        <a:rPr lang="en-US" sz="1000" dirty="0">
                          <a:solidFill>
                            <a:srgbClr val="000000"/>
                          </a:solidFill>
                        </a:rPr>
                        <a:t>Breaking the Monolith</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 In progress</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000" dirty="0">
                          <a:solidFill>
                            <a:srgbClr val="000000"/>
                          </a:solidFill>
                        </a:rPr>
                        <a:t>The big one (next slides)</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The Monolith Problem</a:t>
            </a:r>
            <a:endParaRPr lang="en-US" sz="2800" dirty="0"/>
          </a:p>
        </p:txBody>
      </p:sp>
      <p:sp>
        <p:nvSpPr>
          <p:cNvPr id="4" name="Text 2"/>
          <p:cNvSpPr/>
          <p:nvPr/>
        </p:nvSpPr>
        <p:spPr>
          <a:xfrm>
            <a:off x="0" y="917377"/>
            <a:ext cx="9144000" cy="581025"/>
          </a:xfrm>
          <a:prstGeom prst="rect">
            <a:avLst/>
          </a:prstGeom>
          <a:solidFill>
            <a:srgbClr val="F4F6F6"/>
          </a:solidFill>
          <a:ln/>
        </p:spPr>
        <p:txBody>
          <a:bodyPr wrap="square" rtlCol="0" anchor="ctr"/>
          <a:lstStyle/>
          <a:p>
            <a:pPr indent="0" marL="0">
              <a:buNone/>
            </a:pPr>
            <a:endParaRPr lang="en-US" dirty="0"/>
          </a:p>
        </p:txBody>
      </p:sp>
      <p:sp>
        <p:nvSpPr>
          <p:cNvPr id="5" name="Text 3"/>
          <p:cNvSpPr/>
          <p:nvPr/>
        </p:nvSpPr>
        <p:spPr>
          <a:xfrm>
            <a:off x="507950" y="1107877"/>
            <a:ext cx="8290661" cy="200025"/>
          </a:xfrm>
          <a:prstGeom prst="rect">
            <a:avLst/>
          </a:prstGeom>
          <a:noFill/>
          <a:ln/>
        </p:spPr>
        <p:txBody>
          <a:bodyPr wrap="square" lIns="0" tIns="0" rIns="0" bIns="0" rtlCol="0" anchor="t"/>
          <a:lstStyle/>
          <a:p>
            <a:pPr algn="l" indent="0" marL="0">
              <a:buNone/>
            </a:pPr>
            <a:r>
              <a:rPr lang="en-US" sz="1300" b="1" dirty="0">
                <a:solidFill>
                  <a:srgbClr val="2E4053"/>
                </a:solidFill>
                <a:latin typeface="Arial" pitchFamily="34" charset="0"/>
                <a:ea typeface="Arial" pitchFamily="34" charset="-122"/>
                <a:cs typeface="Arial" pitchFamily="34" charset="-120"/>
              </a:rPr>
              <a:t>THE MONOLITH IS BOTH TECHNICAL AND ORGANIZATIONAL</a:t>
            </a:r>
            <a:endParaRPr lang="en-US" sz="1300" dirty="0"/>
          </a:p>
        </p:txBody>
      </p:sp>
      <p:sp>
        <p:nvSpPr>
          <p:cNvPr id="6" name="Text 4"/>
          <p:cNvSpPr/>
          <p:nvPr/>
        </p:nvSpPr>
        <p:spPr>
          <a:xfrm>
            <a:off x="507950" y="1815852"/>
            <a:ext cx="401584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Technical Reality</a:t>
            </a:r>
            <a:endParaRPr lang="en-US" sz="1300" dirty="0"/>
          </a:p>
        </p:txBody>
      </p:sp>
      <p:sp>
        <p:nvSpPr>
          <p:cNvPr id="7" name="Text 5"/>
          <p:cNvSpPr/>
          <p:nvPr/>
        </p:nvSpPr>
        <p:spPr>
          <a:xfrm>
            <a:off x="507950" y="2142827"/>
            <a:ext cx="3937099" cy="800100"/>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14-year-old codebase, 80+ engineers, monthly releases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Single deployment footprint (Blue-Green in us-east-1)</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Shared database schemas = blast radius on every change</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Testing bottleneck = defensive, slow releases</a:t>
            </a:r>
            <a:endParaRPr lang="en-US" sz="1050" dirty="0"/>
          </a:p>
        </p:txBody>
      </p:sp>
      <p:sp>
        <p:nvSpPr>
          <p:cNvPr id="8" name="Text 6"/>
          <p:cNvSpPr/>
          <p:nvPr/>
        </p:nvSpPr>
        <p:spPr>
          <a:xfrm>
            <a:off x="4698950" y="1815852"/>
            <a:ext cx="401584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Organizational Reality</a:t>
            </a:r>
            <a:endParaRPr lang="en-US" sz="1300" dirty="0"/>
          </a:p>
        </p:txBody>
      </p:sp>
      <p:sp>
        <p:nvSpPr>
          <p:cNvPr id="9" name="Text 7"/>
          <p:cNvSpPr/>
          <p:nvPr/>
        </p:nvSpPr>
        <p:spPr>
          <a:xfrm>
            <a:off x="4698950" y="2142827"/>
            <a:ext cx="3937099" cy="800100"/>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1 director for 80 people = impossible span of control</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Everything needs cross-team coordination</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Fear culture ("what if we break something?")</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Product launches = big-bang, not incremental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The Cost of the Monolith</a:t>
            </a:r>
            <a:endParaRPr lang="en-US" sz="2800" dirty="0"/>
          </a:p>
        </p:txBody>
      </p:sp>
      <p:sp>
        <p:nvSpPr>
          <p:cNvPr id="4" name="Text 2"/>
          <p:cNvSpPr/>
          <p:nvPr/>
        </p:nvSpPr>
        <p:spPr>
          <a:xfrm>
            <a:off x="507950" y="1234827"/>
            <a:ext cx="401584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COST FOR PRODUCT &amp; CUSTOMERS</a:t>
            </a:r>
            <a:endParaRPr lang="en-US" sz="1300" dirty="0"/>
          </a:p>
        </p:txBody>
      </p:sp>
      <p:sp>
        <p:nvSpPr>
          <p:cNvPr id="5" name="Text 3"/>
          <p:cNvSpPr/>
          <p:nvPr/>
        </p:nvSpPr>
        <p:spPr>
          <a:xfrm>
            <a:off x="507950" y="1561802"/>
            <a:ext cx="3937099" cy="1200150"/>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Innovation throttled (everything is a "project")</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Poor deployment frequency</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Long lead time for changes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Cannot respond quickly to customer needs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Slow incident remediation</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Delayed security fixes</a:t>
            </a:r>
            <a:endParaRPr lang="en-US" sz="1050" dirty="0"/>
          </a:p>
        </p:txBody>
      </p:sp>
      <p:sp>
        <p:nvSpPr>
          <p:cNvPr id="6" name="Text 4"/>
          <p:cNvSpPr/>
          <p:nvPr/>
        </p:nvSpPr>
        <p:spPr>
          <a:xfrm>
            <a:off x="4698950" y="1234827"/>
            <a:ext cx="401584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COST FOR ENGINEERING</a:t>
            </a:r>
            <a:endParaRPr lang="en-US" sz="1300" dirty="0"/>
          </a:p>
        </p:txBody>
      </p:sp>
      <p:sp>
        <p:nvSpPr>
          <p:cNvPr id="7" name="Text 5"/>
          <p:cNvSpPr/>
          <p:nvPr/>
        </p:nvSpPr>
        <p:spPr>
          <a:xfrm>
            <a:off x="4698950" y="1561802"/>
            <a:ext cx="3937099" cy="1000125"/>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Things that should be easy are now high risk and difficult</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Uncertainty of impact / side effects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Coordination overhead</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Lack of autonomy</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Difficult to prioritize and manage mixed work streams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The Goal - Autonomous Teams</a:t>
            </a:r>
            <a:endParaRPr lang="en-US" sz="2800" dirty="0"/>
          </a:p>
        </p:txBody>
      </p:sp>
      <p:sp>
        <p:nvSpPr>
          <p:cNvPr id="4" name="Text 2"/>
          <p:cNvSpPr/>
          <p:nvPr/>
        </p:nvSpPr>
        <p:spPr>
          <a:xfrm>
            <a:off x="0" y="917377"/>
            <a:ext cx="9144000" cy="476250"/>
          </a:xfrm>
          <a:prstGeom prst="rect">
            <a:avLst/>
          </a:prstGeom>
          <a:solidFill>
            <a:srgbClr val="F4F6F6"/>
          </a:solidFill>
          <a:ln/>
        </p:spPr>
        <p:txBody>
          <a:bodyPr wrap="square" rtlCol="0" anchor="ctr"/>
          <a:lstStyle/>
          <a:p>
            <a:pPr indent="0" marL="0">
              <a:buNone/>
            </a:pPr>
            <a:endParaRPr lang="en-US" dirty="0"/>
          </a:p>
        </p:txBody>
      </p:sp>
      <p:sp>
        <p:nvSpPr>
          <p:cNvPr id="5" name="Text 3"/>
          <p:cNvSpPr/>
          <p:nvPr/>
        </p:nvSpPr>
        <p:spPr>
          <a:xfrm>
            <a:off x="507950" y="1069777"/>
            <a:ext cx="8290661" cy="171450"/>
          </a:xfrm>
          <a:prstGeom prst="rect">
            <a:avLst/>
          </a:prstGeom>
          <a:noFill/>
          <a:ln/>
        </p:spPr>
        <p:txBody>
          <a:bodyPr wrap="square" lIns="0" tIns="0" rIns="0" bIns="0" rtlCol="0" anchor="t"/>
          <a:lstStyle/>
          <a:p>
            <a:pPr algn="l" indent="0" marL="0">
              <a:buNone/>
            </a:pPr>
            <a:r>
              <a:rPr lang="en-US" sz="1200" i="1" dirty="0">
                <a:solidFill>
                  <a:srgbClr val="2E4053"/>
                </a:solidFill>
                <a:latin typeface="Arial" pitchFamily="34" charset="0"/>
                <a:ea typeface="Arial" pitchFamily="34" charset="-122"/>
                <a:cs typeface="Arial" pitchFamily="34" charset="-120"/>
              </a:rPr>
              <a:t>The Exchange is too big to work on as 1 team, 1 system</a:t>
            </a:r>
            <a:endParaRPr lang="en-US" sz="1200" dirty="0"/>
          </a:p>
        </p:txBody>
      </p:sp>
      <p:sp>
        <p:nvSpPr>
          <p:cNvPr id="6" name="Text 4"/>
          <p:cNvSpPr/>
          <p:nvPr/>
        </p:nvSpPr>
        <p:spPr>
          <a:xfrm>
            <a:off x="507950" y="1711077"/>
            <a:ext cx="829066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What does "autonomous" mean?</a:t>
            </a:r>
            <a:endParaRPr lang="en-US" sz="1300" dirty="0"/>
          </a:p>
        </p:txBody>
      </p:sp>
      <p:sp>
        <p:nvSpPr>
          <p:cNvPr id="7" name="Text 5"/>
          <p:cNvSpPr/>
          <p:nvPr/>
        </p:nvSpPr>
        <p:spPr>
          <a:xfrm>
            <a:off x="507950" y="2038052"/>
            <a:ext cx="8128099" cy="1200150"/>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Dedicated EM and Product Owner (1:1 ratio)</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Own and deploy their component independently (no monolith coordination)</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Own their application-near infrastructure</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Own their deployment pipelines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Sprint independently (dedicated Jira project, backlog)</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"Team API" (Slack channels per convention, clear interfaces)</a:t>
            </a:r>
            <a:endParaRPr lang="en-US" sz="1050" dirty="0"/>
          </a:p>
        </p:txBody>
      </p:sp>
      <p:sp>
        <p:nvSpPr>
          <p:cNvPr id="8" name="Text 6"/>
          <p:cNvSpPr/>
          <p:nvPr/>
        </p:nvSpPr>
        <p:spPr>
          <a:xfrm>
            <a:off x="507950" y="3466802"/>
            <a:ext cx="829066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Why autonomous teams?</a:t>
            </a:r>
            <a:endParaRPr lang="en-US" sz="1300" dirty="0"/>
          </a:p>
        </p:txBody>
      </p:sp>
      <p:sp>
        <p:nvSpPr>
          <p:cNvPr id="9" name="Text 7"/>
          <p:cNvSpPr/>
          <p:nvPr/>
        </p:nvSpPr>
        <p:spPr>
          <a:xfrm>
            <a:off x="507950" y="3793778"/>
            <a:ext cx="8128099" cy="800100"/>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Smaller blast radius = faster, safer releases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Clear ownership = accountability and pride</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Things that required a "project" become normal work</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Reverse Conway Maneuver: Org structure drives architectural decoupling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Progress So Far - The New Org</a:t>
            </a:r>
            <a:endParaRPr lang="en-US" sz="2800" dirty="0"/>
          </a:p>
        </p:txBody>
      </p:sp>
      <p:sp>
        <p:nvSpPr>
          <p:cNvPr id="4" name="Text 2"/>
          <p:cNvSpPr/>
          <p:nvPr/>
        </p:nvSpPr>
        <p:spPr>
          <a:xfrm>
            <a:off x="507950" y="1234827"/>
            <a:ext cx="4015841" cy="200025"/>
          </a:xfrm>
          <a:prstGeom prst="rect">
            <a:avLst/>
          </a:prstGeom>
          <a:noFill/>
          <a:ln/>
        </p:spPr>
        <p:txBody>
          <a:bodyPr wrap="square" lIns="0" tIns="0" rIns="0" bIns="0" rtlCol="0" anchor="t"/>
          <a:lstStyle/>
          <a:p>
            <a:pPr algn="l" indent="0" marL="0">
              <a:spcAft>
                <a:spcPts val="1200"/>
              </a:spcAft>
              <a:buNone/>
            </a:pPr>
            <a:r>
              <a:rPr lang="en-US" sz="1300" b="1" dirty="0">
                <a:solidFill>
                  <a:srgbClr val="1C2833"/>
                </a:solidFill>
                <a:latin typeface="Arial" pitchFamily="34" charset="0"/>
                <a:ea typeface="Arial" pitchFamily="34" charset="-122"/>
                <a:cs typeface="Arial" pitchFamily="34" charset="-120"/>
              </a:rPr>
              <a:t>BEFORE → AFTER</a:t>
            </a:r>
            <a:endParaRPr lang="en-US" sz="1300" dirty="0"/>
          </a:p>
        </p:txBody>
      </p:sp>
      <p:sp>
        <p:nvSpPr>
          <p:cNvPr id="5" name="Text 3"/>
          <p:cNvSpPr/>
          <p:nvPr/>
        </p:nvSpPr>
        <p:spPr>
          <a:xfrm>
            <a:off x="507950" y="1587252"/>
            <a:ext cx="3937099" cy="1386483"/>
          </a:xfrm>
          <a:prstGeom prst="rect">
            <a:avLst/>
          </a:prstGeom>
          <a:solidFill>
            <a:srgbClr val="F4F6F6"/>
          </a:solidFill>
          <a:ln/>
        </p:spPr>
        <p:txBody>
          <a:bodyPr wrap="square" rtlCol="0" anchor="ctr"/>
          <a:lstStyle/>
          <a:p>
            <a:pPr indent="0" marL="0">
              <a:buNone/>
            </a:pPr>
            <a:endParaRPr lang="en-US" dirty="0"/>
          </a:p>
        </p:txBody>
      </p:sp>
      <p:sp>
        <p:nvSpPr>
          <p:cNvPr id="6" name="Shape 4"/>
          <p:cNvSpPr/>
          <p:nvPr/>
        </p:nvSpPr>
        <p:spPr>
          <a:xfrm>
            <a:off x="531763" y="1587252"/>
            <a:ext cx="0" cy="1386483"/>
          </a:xfrm>
          <a:prstGeom prst="line">
            <a:avLst/>
          </a:prstGeom>
          <a:noFill/>
          <a:ln w="47625">
            <a:solidFill>
              <a:srgbClr val="2E4053"/>
            </a:solidFill>
            <a:prstDash val="solid"/>
          </a:ln>
        </p:spPr>
      </p:sp>
      <p:sp>
        <p:nvSpPr>
          <p:cNvPr id="7" name="Text 5"/>
          <p:cNvSpPr/>
          <p:nvPr/>
        </p:nvSpPr>
        <p:spPr>
          <a:xfrm>
            <a:off x="707975" y="1739652"/>
            <a:ext cx="3656368" cy="152400"/>
          </a:xfrm>
          <a:prstGeom prst="rect">
            <a:avLst/>
          </a:prstGeom>
          <a:noFill/>
          <a:ln/>
        </p:spPr>
        <p:txBody>
          <a:bodyPr wrap="square" lIns="0" tIns="0" rIns="0" bIns="0" rtlCol="0" anchor="t"/>
          <a:lstStyle/>
          <a:p>
            <a:pPr algn="l" indent="0" marL="0">
              <a:spcAft>
                <a:spcPts val="600"/>
              </a:spcAft>
              <a:buNone/>
            </a:pPr>
            <a:r>
              <a:rPr lang="en-US" sz="1100" b="1" dirty="0">
                <a:solidFill>
                  <a:srgbClr val="1C2833"/>
                </a:solidFill>
                <a:latin typeface="Arial" pitchFamily="34" charset="0"/>
                <a:ea typeface="Arial" pitchFamily="34" charset="-122"/>
                <a:cs typeface="Arial" pitchFamily="34" charset="-120"/>
              </a:rPr>
              <a:t>Before:</a:t>
            </a:r>
            <a:endParaRPr lang="en-US" sz="1100" dirty="0"/>
          </a:p>
        </p:txBody>
      </p:sp>
      <p:sp>
        <p:nvSpPr>
          <p:cNvPr id="8" name="Text 6"/>
          <p:cNvSpPr/>
          <p:nvPr/>
        </p:nvSpPr>
        <p:spPr>
          <a:xfrm>
            <a:off x="707975" y="1968252"/>
            <a:ext cx="3584674" cy="853083"/>
          </a:xfrm>
          <a:prstGeom prst="rect">
            <a:avLst/>
          </a:prstGeom>
          <a:noFill/>
          <a:ln/>
        </p:spPr>
        <p:txBody>
          <a:bodyPr wrap="square" lIns="127000" tIns="0" rIns="0" bIns="0" rtlCol="0" anchor="t"/>
          <a:lstStyle/>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1 Director</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3 Engineering Managers</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80+ engineers</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Heavy contractor mix</a:t>
            </a:r>
            <a:endParaRPr lang="en-US" sz="1050" dirty="0"/>
          </a:p>
        </p:txBody>
      </p:sp>
      <p:sp>
        <p:nvSpPr>
          <p:cNvPr id="9" name="Text 7"/>
          <p:cNvSpPr/>
          <p:nvPr/>
        </p:nvSpPr>
        <p:spPr>
          <a:xfrm>
            <a:off x="507950" y="3126135"/>
            <a:ext cx="3937099" cy="1386483"/>
          </a:xfrm>
          <a:prstGeom prst="rect">
            <a:avLst/>
          </a:prstGeom>
          <a:solidFill>
            <a:srgbClr val="F4F6F6"/>
          </a:solidFill>
          <a:ln/>
        </p:spPr>
        <p:txBody>
          <a:bodyPr wrap="square" rtlCol="0" anchor="ctr"/>
          <a:lstStyle/>
          <a:p>
            <a:pPr indent="0" marL="0">
              <a:buNone/>
            </a:pPr>
            <a:endParaRPr lang="en-US" dirty="0"/>
          </a:p>
        </p:txBody>
      </p:sp>
      <p:sp>
        <p:nvSpPr>
          <p:cNvPr id="10" name="Shape 8"/>
          <p:cNvSpPr/>
          <p:nvPr/>
        </p:nvSpPr>
        <p:spPr>
          <a:xfrm>
            <a:off x="531763" y="3126135"/>
            <a:ext cx="0" cy="1386483"/>
          </a:xfrm>
          <a:prstGeom prst="line">
            <a:avLst/>
          </a:prstGeom>
          <a:noFill/>
          <a:ln w="47625">
            <a:solidFill>
              <a:srgbClr val="2E4053"/>
            </a:solidFill>
            <a:prstDash val="solid"/>
          </a:ln>
        </p:spPr>
      </p:sp>
      <p:sp>
        <p:nvSpPr>
          <p:cNvPr id="11" name="Text 9"/>
          <p:cNvSpPr/>
          <p:nvPr/>
        </p:nvSpPr>
        <p:spPr>
          <a:xfrm>
            <a:off x="707975" y="3278535"/>
            <a:ext cx="3656368" cy="152400"/>
          </a:xfrm>
          <a:prstGeom prst="rect">
            <a:avLst/>
          </a:prstGeom>
          <a:noFill/>
          <a:ln/>
        </p:spPr>
        <p:txBody>
          <a:bodyPr wrap="square" lIns="0" tIns="0" rIns="0" bIns="0" rtlCol="0" anchor="t"/>
          <a:lstStyle/>
          <a:p>
            <a:pPr algn="l" indent="0" marL="0">
              <a:spcAft>
                <a:spcPts val="600"/>
              </a:spcAft>
              <a:buNone/>
            </a:pPr>
            <a:r>
              <a:rPr lang="en-US" sz="1100" b="1" dirty="0">
                <a:solidFill>
                  <a:srgbClr val="1C2833"/>
                </a:solidFill>
                <a:latin typeface="Arial" pitchFamily="34" charset="0"/>
                <a:ea typeface="Arial" pitchFamily="34" charset="-122"/>
                <a:cs typeface="Arial" pitchFamily="34" charset="-120"/>
              </a:rPr>
              <a:t>After:</a:t>
            </a:r>
            <a:endParaRPr lang="en-US" sz="1100" dirty="0"/>
          </a:p>
        </p:txBody>
      </p:sp>
      <p:sp>
        <p:nvSpPr>
          <p:cNvPr id="12" name="Text 10"/>
          <p:cNvSpPr/>
          <p:nvPr/>
        </p:nvSpPr>
        <p:spPr>
          <a:xfrm>
            <a:off x="707975" y="3507135"/>
            <a:ext cx="3584674" cy="853083"/>
          </a:xfrm>
          <a:prstGeom prst="rect">
            <a:avLst/>
          </a:prstGeom>
          <a:noFill/>
          <a:ln/>
        </p:spPr>
        <p:txBody>
          <a:bodyPr wrap="square" lIns="127000" tIns="0" rIns="0" bIns="0" rtlCol="0" anchor="t"/>
          <a:lstStyle/>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4 Directors</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12 Engineering Managers (each leading 1 small team)</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~80 engineers (6-8 per team)</a:t>
            </a:r>
            <a:endParaRPr lang="en-US" sz="1050" dirty="0"/>
          </a:p>
          <a:p>
            <a:pPr algn="l" marL="127000" indent="-127000">
              <a:lnSpc>
                <a:spcPts val="1680"/>
              </a:lnSpc>
              <a:buSzPct val="100000"/>
              <a:buChar char="•"/>
            </a:pPr>
            <a:r>
              <a:rPr lang="en-US" sz="1050" dirty="0">
                <a:solidFill>
                  <a:srgbClr val="2E4053"/>
                </a:solidFill>
                <a:latin typeface="Arial" pitchFamily="34" charset="0"/>
                <a:ea typeface="Arial" pitchFamily="34" charset="-122"/>
                <a:cs typeface="Arial" pitchFamily="34" charset="-120"/>
              </a:rPr>
              <a:t>Transitioning contractors → FTEs</a:t>
            </a:r>
            <a:endParaRPr lang="en-US" sz="1050" dirty="0"/>
          </a:p>
        </p:txBody>
      </p:sp>
      <p:sp>
        <p:nvSpPr>
          <p:cNvPr id="13" name="Text 11"/>
          <p:cNvSpPr/>
          <p:nvPr/>
        </p:nvSpPr>
        <p:spPr>
          <a:xfrm>
            <a:off x="4698950" y="1234827"/>
            <a:ext cx="4015841" cy="200025"/>
          </a:xfrm>
          <a:prstGeom prst="rect">
            <a:avLst/>
          </a:prstGeom>
          <a:noFill/>
          <a:ln/>
        </p:spPr>
        <p:txBody>
          <a:bodyPr wrap="square" lIns="0" tIns="0" rIns="0" bIns="0" rtlCol="0" anchor="t"/>
          <a:lstStyle/>
          <a:p>
            <a:pPr algn="l" indent="0" marL="0">
              <a:spcAft>
                <a:spcPts val="1200"/>
              </a:spcAft>
              <a:buNone/>
            </a:pPr>
            <a:r>
              <a:rPr lang="en-US" sz="1300" b="1" dirty="0">
                <a:solidFill>
                  <a:srgbClr val="1C2833"/>
                </a:solidFill>
                <a:latin typeface="Arial" pitchFamily="34" charset="0"/>
                <a:ea typeface="Arial" pitchFamily="34" charset="-122"/>
                <a:cs typeface="Arial" pitchFamily="34" charset="-120"/>
              </a:rPr>
              <a:t>HIRING PROGRESS</a:t>
            </a:r>
            <a:endParaRPr lang="en-US" sz="1300" dirty="0"/>
          </a:p>
        </p:txBody>
      </p:sp>
      <p:sp>
        <p:nvSpPr>
          <p:cNvPr id="14" name="Text 12"/>
          <p:cNvSpPr/>
          <p:nvPr/>
        </p:nvSpPr>
        <p:spPr>
          <a:xfrm>
            <a:off x="4698950" y="1587252"/>
            <a:ext cx="3937099" cy="1066354"/>
          </a:xfrm>
          <a:prstGeom prst="rect">
            <a:avLst/>
          </a:prstGeom>
          <a:noFill/>
          <a:ln/>
        </p:spPr>
        <p:txBody>
          <a:bodyPr wrap="square" lIns="127000" tIns="0" rIns="0" bIns="0" rtlCol="0" anchor="t"/>
          <a:lstStyle/>
          <a:p>
            <a:pPr algn="l" marL="127000" indent="-127000">
              <a:lnSpc>
                <a:spcPts val="1680"/>
              </a:lnSpc>
              <a:buSzPct val="100000"/>
              <a:buChar char="•"/>
            </a:pPr>
            <a:r>
              <a:rPr lang="en-US" sz="1050" b="1" dirty="0">
                <a:solidFill>
                  <a:srgbClr val="2E4053"/>
                </a:solidFill>
                <a:latin typeface="Arial" pitchFamily="34" charset="0"/>
                <a:ea typeface="Arial" pitchFamily="34" charset="-122"/>
                <a:cs typeface="Arial" pitchFamily="34" charset="-120"/>
              </a:rPr>
              <a:t>Directors:</a:t>
            </a:r>
            <a:pPr algn="l" indent="0" marL="0">
              <a:lnSpc>
                <a:spcPts val="1680"/>
              </a:lnSpc>
              <a:buNone/>
            </a:pPr>
            <a:r>
              <a:rPr lang="en-US" sz="1050" dirty="0">
                <a:solidFill>
                  <a:srgbClr val="2E4053"/>
                </a:solidFill>
                <a:latin typeface="Arial" pitchFamily="34" charset="0"/>
                <a:ea typeface="Arial" pitchFamily="34" charset="-122"/>
                <a:cs typeface="Arial" pitchFamily="34" charset="-120"/>
              </a:rPr>
              <a:t> 3 hired, 1 in final rounds</a:t>
            </a:r>
            <a:endParaRPr lang="en-US" sz="1050" dirty="0"/>
          </a:p>
          <a:p>
            <a:pPr algn="l" marL="127000" indent="-127000">
              <a:lnSpc>
                <a:spcPts val="1680"/>
              </a:lnSpc>
              <a:buSzPct val="100000"/>
              <a:buChar char="•"/>
            </a:pPr>
            <a:r>
              <a:rPr lang="en-US" sz="1050" b="1" dirty="0">
                <a:solidFill>
                  <a:srgbClr val="2E4053"/>
                </a:solidFill>
                <a:latin typeface="Arial" pitchFamily="34" charset="0"/>
                <a:ea typeface="Arial" pitchFamily="34" charset="-122"/>
                <a:cs typeface="Arial" pitchFamily="34" charset="-120"/>
              </a:rPr>
              <a:t>EMs:</a:t>
            </a:r>
            <a:pPr algn="l" indent="0" marL="0">
              <a:lnSpc>
                <a:spcPts val="1680"/>
              </a:lnSpc>
              <a:buNone/>
            </a:pPr>
            <a:r>
              <a:rPr lang="en-US" sz="1050" dirty="0">
                <a:solidFill>
                  <a:srgbClr val="2E4053"/>
                </a:solidFill>
                <a:latin typeface="Arial" pitchFamily="34" charset="0"/>
                <a:ea typeface="Arial" pitchFamily="34" charset="-122"/>
                <a:cs typeface="Arial" pitchFamily="34" charset="-120"/>
              </a:rPr>
              <a:t> 8 hired, 4 in process</a:t>
            </a:r>
            <a:endParaRPr lang="en-US" sz="1050" dirty="0"/>
          </a:p>
          <a:p>
            <a:pPr algn="l" marL="127000" indent="-127000">
              <a:lnSpc>
                <a:spcPts val="1680"/>
              </a:lnSpc>
              <a:buSzPct val="100000"/>
              <a:buChar char="•"/>
            </a:pPr>
            <a:r>
              <a:rPr lang="en-US" sz="1050" b="1" dirty="0">
                <a:solidFill>
                  <a:srgbClr val="2E4053"/>
                </a:solidFill>
                <a:latin typeface="Arial" pitchFamily="34" charset="0"/>
                <a:ea typeface="Arial" pitchFamily="34" charset="-122"/>
                <a:cs typeface="Arial" pitchFamily="34" charset="-120"/>
              </a:rPr>
              <a:t>Key IC roles:</a:t>
            </a:r>
            <a:pPr algn="l" indent="0" marL="0">
              <a:lnSpc>
                <a:spcPts val="1680"/>
              </a:lnSpc>
              <a:buNone/>
            </a:pPr>
            <a:r>
              <a:rPr lang="en-US" sz="1050" dirty="0">
                <a:solidFill>
                  <a:srgbClr val="2E4053"/>
                </a:solidFill>
                <a:latin typeface="Arial" pitchFamily="34" charset="0"/>
                <a:ea typeface="Arial" pitchFamily="34" charset="-122"/>
                <a:cs typeface="Arial" pitchFamily="34" charset="-120"/>
              </a:rPr>
              <a:t> AI Director (Aaron), senior ICs for platform/infrastructure</a:t>
            </a:r>
            <a:endParaRPr lang="en-US" sz="1050" dirty="0"/>
          </a:p>
          <a:p>
            <a:pPr algn="l" marL="127000" indent="-127000">
              <a:lnSpc>
                <a:spcPts val="1680"/>
              </a:lnSpc>
              <a:buSzPct val="100000"/>
              <a:buChar char="•"/>
            </a:pPr>
            <a:r>
              <a:rPr lang="en-US" sz="1050" b="1" dirty="0">
                <a:solidFill>
                  <a:srgbClr val="2E4053"/>
                </a:solidFill>
                <a:latin typeface="Arial" pitchFamily="34" charset="0"/>
                <a:ea typeface="Arial" pitchFamily="34" charset="-122"/>
                <a:cs typeface="Arial" pitchFamily="34" charset="-120"/>
              </a:rPr>
              <a:t>Org chart:</a:t>
            </a:r>
            <a:pPr algn="l" indent="0" marL="0">
              <a:lnSpc>
                <a:spcPts val="1680"/>
              </a:lnSpc>
              <a:buNone/>
            </a:pPr>
            <a:r>
              <a:rPr lang="en-US" sz="1050" dirty="0">
                <a:solidFill>
                  <a:srgbClr val="2E4053"/>
                </a:solidFill>
                <a:latin typeface="Arial" pitchFamily="34" charset="0"/>
                <a:ea typeface="Arial" pitchFamily="34" charset="-122"/>
                <a:cs typeface="Arial" pitchFamily="34" charset="-120"/>
              </a:rPr>
              <a:t> [Reference separate slide]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Progress So Far - Technical &amp; Cultural</a:t>
            </a:r>
            <a:endParaRPr lang="en-US" sz="2800" dirty="0"/>
          </a:p>
        </p:txBody>
      </p:sp>
      <p:sp>
        <p:nvSpPr>
          <p:cNvPr id="4" name="Text 2"/>
          <p:cNvSpPr/>
          <p:nvPr/>
        </p:nvSpPr>
        <p:spPr>
          <a:xfrm>
            <a:off x="507950" y="1234827"/>
            <a:ext cx="401584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TECHNICAL PROGRESS</a:t>
            </a:r>
            <a:endParaRPr lang="en-US" sz="1300" dirty="0"/>
          </a:p>
        </p:txBody>
      </p:sp>
      <p:sp>
        <p:nvSpPr>
          <p:cNvPr id="5" name="Text 3"/>
          <p:cNvSpPr/>
          <p:nvPr/>
        </p:nvSpPr>
        <p:spPr>
          <a:xfrm>
            <a:off x="507950" y="1561802"/>
            <a:ext cx="3937099" cy="1000125"/>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Template for breaking pieces off monolith (repo, CI/CD, infra)</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AI-Native SDLC (Aaron hired, dedicated team, tooling deployed)</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Architecture backlog discussions (debt visibility)</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Teams moving to GitHub repos (out of monorepo)</a:t>
            </a:r>
            <a:endParaRPr lang="en-US" sz="1050" dirty="0"/>
          </a:p>
        </p:txBody>
      </p:sp>
      <p:sp>
        <p:nvSpPr>
          <p:cNvPr id="6" name="Text 4"/>
          <p:cNvSpPr/>
          <p:nvPr/>
        </p:nvSpPr>
        <p:spPr>
          <a:xfrm>
            <a:off x="4698950" y="1234827"/>
            <a:ext cx="401584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CULTURAL PROGRESS (SIGNS OF CHANGE)</a:t>
            </a:r>
            <a:endParaRPr lang="en-US" sz="1300" dirty="0"/>
          </a:p>
        </p:txBody>
      </p:sp>
      <p:sp>
        <p:nvSpPr>
          <p:cNvPr id="7" name="Text 5"/>
          <p:cNvSpPr/>
          <p:nvPr/>
        </p:nvSpPr>
        <p:spPr>
          <a:xfrm>
            <a:off x="4698950" y="1561802"/>
            <a:ext cx="3937099" cy="1421904"/>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Teams requesting testing ownership (huge shift from fear culture)</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Teams breaking off components proactively (not mandated)</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Incremental delivery wins: </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MEX Core UI Migrations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EMS Managed Services Portal (quarterly commits to 2027 Q2)</a:t>
            </a:r>
            <a:endParaRPr lang="en-US" sz="1050" dirty="0"/>
          </a:p>
        </p:txBody>
      </p:sp>
      <p:sp>
        <p:nvSpPr>
          <p:cNvPr id="8" name="Text 6"/>
          <p:cNvSpPr/>
          <p:nvPr/>
        </p:nvSpPr>
        <p:spPr>
          <a:xfrm>
            <a:off x="4952851" y="2412653"/>
            <a:ext cx="3683198" cy="571054"/>
          </a:xfrm>
          <a:prstGeom prst="rect">
            <a:avLst/>
          </a:prstGeom>
          <a:noFill/>
          <a:ln/>
        </p:spPr>
        <p:txBody>
          <a:bodyPr wrap="square" lIns="127000" tIns="0" rIns="0" bIns="0" rtlCol="0" anchor="t"/>
          <a:lstStyle/>
          <a:p>
            <a:pPr algn="l" marL="127000" indent="-127000">
              <a:lnSpc>
                <a:spcPts val="1500"/>
              </a:lnSpc>
              <a:buSzPct val="100000"/>
              <a:buChar char="•"/>
            </a:pPr>
            <a:r>
              <a:rPr lang="en-US" sz="1000" dirty="0">
                <a:solidFill>
                  <a:srgbClr val="2E4053"/>
                </a:solidFill>
                <a:latin typeface="Arial" pitchFamily="34" charset="0"/>
                <a:ea typeface="Arial" pitchFamily="34" charset="-122"/>
                <a:cs typeface="Arial" pitchFamily="34" charset="-120"/>
              </a:rPr>
              <a:t>MEX Core UI Migrations</a:t>
            </a:r>
            <a:endParaRPr lang="en-US" sz="1000" dirty="0"/>
          </a:p>
          <a:p>
            <a:pPr algn="l" marL="127000" indent="-127000">
              <a:lnSpc>
                <a:spcPts val="1500"/>
              </a:lnSpc>
              <a:buSzPct val="100000"/>
              <a:buChar char="•"/>
            </a:pPr>
            <a:r>
              <a:rPr lang="en-US" sz="1000" dirty="0">
                <a:solidFill>
                  <a:srgbClr val="2E4053"/>
                </a:solidFill>
                <a:latin typeface="Arial" pitchFamily="34" charset="0"/>
                <a:ea typeface="Arial" pitchFamily="34" charset="-122"/>
                <a:cs typeface="Arial" pitchFamily="34" charset="-120"/>
              </a:rPr>
              <a:t>EMS Managed Services Portal (quarterly commits to 2027 Q2)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What's Happening Right Now</a:t>
            </a:r>
            <a:endParaRPr lang="en-US" sz="2800" dirty="0"/>
          </a:p>
        </p:txBody>
      </p:sp>
      <p:sp>
        <p:nvSpPr>
          <p:cNvPr id="4" name="Text 2"/>
          <p:cNvSpPr/>
          <p:nvPr/>
        </p:nvSpPr>
        <p:spPr>
          <a:xfrm>
            <a:off x="507950" y="1196727"/>
            <a:ext cx="829066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Each Team is Defining:</a:t>
            </a:r>
            <a:endParaRPr lang="en-US" sz="1300" dirty="0"/>
          </a:p>
        </p:txBody>
      </p:sp>
      <p:sp>
        <p:nvSpPr>
          <p:cNvPr id="5" name="Text 3"/>
          <p:cNvSpPr/>
          <p:nvPr/>
        </p:nvSpPr>
        <p:spPr>
          <a:xfrm>
            <a:off x="507950" y="1523702"/>
            <a:ext cx="8128099" cy="600075"/>
          </a:xfrm>
          <a:prstGeom prst="rect">
            <a:avLst/>
          </a:prstGeom>
          <a:noFill/>
          <a:ln/>
        </p:spPr>
        <p:txBody>
          <a:bodyPr wrap="square" lIns="127000" tIns="0" rIns="0" bIns="0" rtlCol="0" anchor="t"/>
          <a:lstStyle/>
          <a:p>
            <a:pPr algn="l" marL="127000" indent="-127000">
              <a:lnSpc>
                <a:spcPts val="1575"/>
              </a:lnSpc>
              <a:buSzPct val="100000"/>
              <a:buChar char="•"/>
            </a:pPr>
            <a:r>
              <a:rPr lang="en-US" sz="1050" b="1" dirty="0">
                <a:solidFill>
                  <a:srgbClr val="2E4053"/>
                </a:solidFill>
                <a:latin typeface="Arial" pitchFamily="34" charset="0"/>
                <a:ea typeface="Arial" pitchFamily="34" charset="-122"/>
                <a:cs typeface="Arial" pitchFamily="34" charset="-120"/>
              </a:rPr>
              <a:t>Your domain</a:t>
            </a:r>
            <a:pPr algn="l" indent="0" marL="0">
              <a:lnSpc>
                <a:spcPts val="1575"/>
              </a:lnSpc>
              <a:buNone/>
            </a:pPr>
            <a:r>
              <a:rPr lang="en-US" sz="1050" dirty="0">
                <a:solidFill>
                  <a:srgbClr val="2E4053"/>
                </a:solidFill>
                <a:latin typeface="Arial" pitchFamily="34" charset="0"/>
                <a:ea typeface="Arial" pitchFamily="34" charset="-122"/>
                <a:cs typeface="Arial" pitchFamily="34" charset="-120"/>
              </a:rPr>
              <a:t> — What's in scope, what's out, where are the boundaries fuzzy?</a:t>
            </a:r>
            <a:endParaRPr lang="en-US" sz="1050" dirty="0"/>
          </a:p>
          <a:p>
            <a:pPr algn="l" marL="127000" indent="-127000">
              <a:lnSpc>
                <a:spcPts val="1575"/>
              </a:lnSpc>
              <a:buSzPct val="100000"/>
              <a:buChar char="•"/>
            </a:pPr>
            <a:r>
              <a:rPr lang="en-US" sz="1050" b="1" dirty="0">
                <a:solidFill>
                  <a:srgbClr val="2E4053"/>
                </a:solidFill>
                <a:latin typeface="Arial" pitchFamily="34" charset="0"/>
                <a:ea typeface="Arial" pitchFamily="34" charset="-122"/>
                <a:cs typeface="Arial" pitchFamily="34" charset="-120"/>
              </a:rPr>
              <a:t>Coupling points</a:t>
            </a:r>
            <a:pPr algn="l" indent="0" marL="0">
              <a:lnSpc>
                <a:spcPts val="1575"/>
              </a:lnSpc>
              <a:buNone/>
            </a:pPr>
            <a:r>
              <a:rPr lang="en-US" sz="1050" dirty="0">
                <a:solidFill>
                  <a:srgbClr val="2E4053"/>
                </a:solidFill>
                <a:latin typeface="Arial" pitchFamily="34" charset="0"/>
                <a:ea typeface="Arial" pitchFamily="34" charset="-122"/>
                <a:cs typeface="Arial" pitchFamily="34" charset="-120"/>
              </a:rPr>
              <a:t> — How are you tied to the monolith or other services? Shared repos, direct dependencies, shared databases?</a:t>
            </a:r>
            <a:endParaRPr lang="en-US" sz="1050" dirty="0"/>
          </a:p>
          <a:p>
            <a:pPr algn="l" marL="127000" indent="-127000">
              <a:lnSpc>
                <a:spcPts val="1575"/>
              </a:lnSpc>
              <a:buSzPct val="100000"/>
              <a:buChar char="•"/>
            </a:pPr>
            <a:r>
              <a:rPr lang="en-US" sz="1050" b="1" dirty="0">
                <a:solidFill>
                  <a:srgbClr val="2E4053"/>
                </a:solidFill>
                <a:latin typeface="Arial" pitchFamily="34" charset="0"/>
                <a:ea typeface="Arial" pitchFamily="34" charset="-122"/>
                <a:cs typeface="Arial" pitchFamily="34" charset="-120"/>
              </a:rPr>
              <a:t>Deployment blockers</a:t>
            </a:r>
            <a:pPr algn="l" indent="0" marL="0">
              <a:lnSpc>
                <a:spcPts val="1575"/>
              </a:lnSpc>
              <a:buNone/>
            </a:pPr>
            <a:r>
              <a:rPr lang="en-US" sz="1050" dirty="0">
                <a:solidFill>
                  <a:srgbClr val="2E4053"/>
                </a:solidFill>
                <a:latin typeface="Arial" pitchFamily="34" charset="0"/>
                <a:ea typeface="Arial" pitchFamily="34" charset="-122"/>
                <a:cs typeface="Arial" pitchFamily="34" charset="-120"/>
              </a:rPr>
              <a:t> — What prevents you from deploying independently today?</a:t>
            </a:r>
            <a:endParaRPr lang="en-US" sz="1050" dirty="0"/>
          </a:p>
        </p:txBody>
      </p:sp>
      <p:sp>
        <p:nvSpPr>
          <p:cNvPr id="6" name="Text 4"/>
          <p:cNvSpPr/>
          <p:nvPr/>
        </p:nvSpPr>
        <p:spPr>
          <a:xfrm>
            <a:off x="507950" y="2314277"/>
            <a:ext cx="829066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Template Activities in Progress:</a:t>
            </a:r>
            <a:endParaRPr lang="en-US" sz="1300" dirty="0"/>
          </a:p>
        </p:txBody>
      </p:sp>
      <p:sp>
        <p:nvSpPr>
          <p:cNvPr id="7" name="Text 5"/>
          <p:cNvSpPr/>
          <p:nvPr/>
        </p:nvSpPr>
        <p:spPr>
          <a:xfrm>
            <a:off x="507950" y="2641253"/>
            <a:ext cx="8128099" cy="800100"/>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Move components to GitHub repos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Stand up deployment pipelines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Define team APIs and integration contracts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Break database coupling</a:t>
            </a:r>
            <a:endParaRPr lang="en-US" sz="1050" dirty="0"/>
          </a:p>
        </p:txBody>
      </p:sp>
      <p:sp>
        <p:nvSpPr>
          <p:cNvPr id="8" name="Text 6"/>
          <p:cNvSpPr/>
          <p:nvPr/>
        </p:nvSpPr>
        <p:spPr>
          <a:xfrm>
            <a:off x="507950" y="3631853"/>
            <a:ext cx="8290661"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Autonomous Team Behaviors Emerging:</a:t>
            </a:r>
            <a:endParaRPr lang="en-US" sz="1300" dirty="0"/>
          </a:p>
        </p:txBody>
      </p:sp>
      <p:sp>
        <p:nvSpPr>
          <p:cNvPr id="9" name="Text 7"/>
          <p:cNvSpPr/>
          <p:nvPr/>
        </p:nvSpPr>
        <p:spPr>
          <a:xfrm>
            <a:off x="507950" y="3958828"/>
            <a:ext cx="8128099" cy="600075"/>
          </a:xfrm>
          <a:prstGeom prst="rect">
            <a:avLst/>
          </a:prstGeom>
          <a:noFill/>
          <a:ln/>
        </p:spPr>
        <p:txBody>
          <a:bodyPr wrap="square" lIns="127000" tIns="0" rIns="0" bIns="0" rtlCol="0" anchor="t"/>
          <a:lstStyle/>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Teams making decisions (testing strategies, tooling choices)</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Freedom to move forward without cross-team coordination</a:t>
            </a:r>
            <a:endParaRPr lang="en-US" sz="1050" dirty="0"/>
          </a:p>
          <a:p>
            <a:pPr algn="l" marL="127000" indent="-127000">
              <a:lnSpc>
                <a:spcPts val="1575"/>
              </a:lnSpc>
              <a:buSzPct val="100000"/>
              <a:buChar char="•"/>
            </a:pPr>
            <a:r>
              <a:rPr lang="en-US" sz="1050" dirty="0">
                <a:solidFill>
                  <a:srgbClr val="2E4053"/>
                </a:solidFill>
                <a:latin typeface="Arial" pitchFamily="34" charset="0"/>
                <a:ea typeface="Arial" pitchFamily="34" charset="-122"/>
                <a:cs typeface="Arial" pitchFamily="34" charset="-120"/>
              </a:rPr>
              <a:t>Architecture backlog discussions surfacing tech debt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Resiliency Endgame - Completion Criteria</a:t>
            </a:r>
            <a:endParaRPr lang="en-US" sz="2800" dirty="0"/>
          </a:p>
        </p:txBody>
      </p:sp>
      <p:sp>
        <p:nvSpPr>
          <p:cNvPr id="4" name="Text 2"/>
          <p:cNvSpPr/>
          <p:nvPr/>
        </p:nvSpPr>
        <p:spPr>
          <a:xfrm>
            <a:off x="0" y="917377"/>
            <a:ext cx="9144000" cy="514350"/>
          </a:xfrm>
          <a:prstGeom prst="rect">
            <a:avLst/>
          </a:prstGeom>
          <a:solidFill>
            <a:srgbClr val="2E4053"/>
          </a:solidFill>
          <a:ln/>
        </p:spPr>
        <p:txBody>
          <a:bodyPr wrap="square" rtlCol="0" anchor="ctr"/>
          <a:lstStyle/>
          <a:p>
            <a:pPr indent="0" marL="0">
              <a:buNone/>
            </a:pPr>
            <a:endParaRPr lang="en-US" dirty="0"/>
          </a:p>
        </p:txBody>
      </p:sp>
      <p:sp>
        <p:nvSpPr>
          <p:cNvPr id="5" name="Text 3"/>
          <p:cNvSpPr/>
          <p:nvPr/>
        </p:nvSpPr>
        <p:spPr>
          <a:xfrm>
            <a:off x="507950" y="1069777"/>
            <a:ext cx="8290661" cy="209550"/>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WHEN ARE WE DONE? Two completion criteria:</a:t>
            </a:r>
            <a:endParaRPr lang="en-US" sz="1400" dirty="0"/>
          </a:p>
        </p:txBody>
      </p:sp>
      <p:sp>
        <p:nvSpPr>
          <p:cNvPr id="6" name="Text 4"/>
          <p:cNvSpPr/>
          <p:nvPr/>
        </p:nvSpPr>
        <p:spPr>
          <a:xfrm>
            <a:off x="507950" y="1622227"/>
            <a:ext cx="4307154" cy="400050"/>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MUST HAVES (WE WON'T BE STABLE WITHOUT THESE)</a:t>
            </a:r>
            <a:endParaRPr lang="en-US" sz="1300" dirty="0"/>
          </a:p>
        </p:txBody>
      </p:sp>
      <p:sp>
        <p:nvSpPr>
          <p:cNvPr id="7" name="Text 5"/>
          <p:cNvSpPr/>
          <p:nvPr/>
        </p:nvSpPr>
        <p:spPr>
          <a:xfrm>
            <a:off x="507950" y="2149227"/>
            <a:ext cx="4307154" cy="152400"/>
          </a:xfrm>
          <a:prstGeom prst="rect">
            <a:avLst/>
          </a:prstGeom>
          <a:noFill/>
          <a:ln/>
        </p:spPr>
        <p:txBody>
          <a:bodyPr wrap="square" lIns="0" tIns="0" rIns="0" bIns="0" rtlCol="0" anchor="t"/>
          <a:lstStyle/>
          <a:p>
            <a:pPr algn="l" indent="0" marL="0">
              <a:spcAft>
                <a:spcPts val="500"/>
              </a:spcAft>
              <a:buNone/>
            </a:pPr>
            <a:r>
              <a:rPr lang="en-US" sz="1050" b="1" dirty="0">
                <a:solidFill>
                  <a:srgbClr val="1C2833"/>
                </a:solidFill>
                <a:latin typeface="Arial" pitchFamily="34" charset="0"/>
                <a:ea typeface="Arial" pitchFamily="34" charset="-122"/>
                <a:cs typeface="Arial" pitchFamily="34" charset="-120"/>
              </a:rPr>
              <a:t>1. 12 Autonomous Teams Operating Independently</a:t>
            </a:r>
            <a:endParaRPr lang="en-US" sz="1050" dirty="0"/>
          </a:p>
        </p:txBody>
      </p:sp>
      <p:sp>
        <p:nvSpPr>
          <p:cNvPr id="8" name="Text 6"/>
          <p:cNvSpPr/>
          <p:nvPr/>
        </p:nvSpPr>
        <p:spPr>
          <a:xfrm>
            <a:off x="507950" y="2365028"/>
            <a:ext cx="4222700" cy="616744"/>
          </a:xfrm>
          <a:prstGeom prst="rect">
            <a:avLst/>
          </a:prstGeom>
          <a:noFill/>
          <a:ln/>
        </p:spPr>
        <p:txBody>
          <a:bodyPr wrap="square" lIns="114300" tIns="0" rIns="0" bIns="0" rtlCol="0" anchor="t"/>
          <a:lstStyle/>
          <a:p>
            <a:pPr algn="l" marL="114300" indent="-114300">
              <a:lnSpc>
                <a:spcPts val="1215"/>
              </a:lnSpc>
              <a:buSzPct val="100000"/>
              <a:buChar char="•"/>
            </a:pPr>
            <a:r>
              <a:rPr lang="en-US" sz="900" dirty="0">
                <a:solidFill>
                  <a:srgbClr val="2E4053"/>
                </a:solidFill>
                <a:latin typeface="Arial" pitchFamily="34" charset="0"/>
                <a:ea typeface="Arial" pitchFamily="34" charset="-122"/>
                <a:cs typeface="Arial" pitchFamily="34" charset="-120"/>
              </a:rPr>
              <a:t>Own their domain/component</a:t>
            </a:r>
            <a:endParaRPr lang="en-US" sz="900" dirty="0"/>
          </a:p>
          <a:p>
            <a:pPr algn="l" marL="114300" indent="-114300">
              <a:lnSpc>
                <a:spcPts val="1215"/>
              </a:lnSpc>
              <a:buSzPct val="100000"/>
              <a:buChar char="•"/>
            </a:pPr>
            <a:r>
              <a:rPr lang="en-US" sz="900" dirty="0">
                <a:solidFill>
                  <a:srgbClr val="2E4053"/>
                </a:solidFill>
                <a:latin typeface="Arial" pitchFamily="34" charset="0"/>
                <a:ea typeface="Arial" pitchFamily="34" charset="-122"/>
                <a:cs typeface="Arial" pitchFamily="34" charset="-120"/>
              </a:rPr>
              <a:t>Deploy independently (no monolith coordination)</a:t>
            </a:r>
            <a:endParaRPr lang="en-US" sz="900" dirty="0"/>
          </a:p>
          <a:p>
            <a:pPr algn="l" marL="114300" indent="-114300">
              <a:lnSpc>
                <a:spcPts val="1215"/>
              </a:lnSpc>
              <a:buSzPct val="100000"/>
              <a:buChar char="•"/>
            </a:pPr>
            <a:r>
              <a:rPr lang="en-US" sz="900" dirty="0">
                <a:solidFill>
                  <a:srgbClr val="2E4053"/>
                </a:solidFill>
                <a:latin typeface="Arial" pitchFamily="34" charset="0"/>
                <a:ea typeface="Arial" pitchFamily="34" charset="-122"/>
                <a:cs typeface="Arial" pitchFamily="34" charset="-120"/>
              </a:rPr>
              <a:t>Own application-near infrastructure</a:t>
            </a:r>
            <a:endParaRPr lang="en-US" sz="900" dirty="0"/>
          </a:p>
          <a:p>
            <a:pPr algn="l" marL="114300" indent="-114300">
              <a:lnSpc>
                <a:spcPts val="1215"/>
              </a:lnSpc>
              <a:buSzPct val="100000"/>
              <a:buChar char="•"/>
            </a:pPr>
            <a:r>
              <a:rPr lang="en-US" sz="900" dirty="0">
                <a:solidFill>
                  <a:srgbClr val="2E4053"/>
                </a:solidFill>
                <a:latin typeface="Arial" pitchFamily="34" charset="0"/>
                <a:ea typeface="Arial" pitchFamily="34" charset="-122"/>
                <a:cs typeface="Arial" pitchFamily="34" charset="-120"/>
              </a:rPr>
              <a:t>Sprint independently</a:t>
            </a:r>
            <a:endParaRPr lang="en-US" sz="900" dirty="0"/>
          </a:p>
        </p:txBody>
      </p:sp>
      <p:sp>
        <p:nvSpPr>
          <p:cNvPr id="9" name="Text 7"/>
          <p:cNvSpPr/>
          <p:nvPr/>
        </p:nvSpPr>
        <p:spPr>
          <a:xfrm>
            <a:off x="507950" y="3032522"/>
            <a:ext cx="4307154" cy="190500"/>
          </a:xfrm>
          <a:prstGeom prst="rect">
            <a:avLst/>
          </a:prstGeom>
          <a:noFill/>
          <a:ln/>
        </p:spPr>
        <p:txBody>
          <a:bodyPr wrap="square" lIns="0" tIns="0" rIns="0" bIns="0" rtlCol="0" anchor="t"/>
          <a:lstStyle/>
          <a:p>
            <a:pPr algn="l" indent="0" marL="0">
              <a:spcBef>
                <a:spcPts val="400"/>
              </a:spcBef>
              <a:buNone/>
            </a:pPr>
            <a:r>
              <a:rPr lang="en-US" sz="900" b="1" dirty="0">
                <a:solidFill>
                  <a:srgbClr val="2E4053"/>
                </a:solidFill>
                <a:latin typeface="Arial" pitchFamily="34" charset="0"/>
                <a:ea typeface="Arial" pitchFamily="34" charset="-122"/>
                <a:cs typeface="Arial" pitchFamily="34" charset="-120"/>
              </a:rPr>
              <a:t>✅ Progress: 70% (org structure in place, technical decoupling starting)</a:t>
            </a:r>
            <a:endParaRPr lang="en-US" sz="900" dirty="0"/>
          </a:p>
        </p:txBody>
      </p:sp>
      <p:sp>
        <p:nvSpPr>
          <p:cNvPr id="10" name="Text 8"/>
          <p:cNvSpPr/>
          <p:nvPr/>
        </p:nvSpPr>
        <p:spPr>
          <a:xfrm>
            <a:off x="507950" y="3324523"/>
            <a:ext cx="4307154" cy="152400"/>
          </a:xfrm>
          <a:prstGeom prst="rect">
            <a:avLst/>
          </a:prstGeom>
          <a:noFill/>
          <a:ln/>
        </p:spPr>
        <p:txBody>
          <a:bodyPr wrap="square" lIns="0" tIns="0" rIns="0" bIns="0" rtlCol="0" anchor="t"/>
          <a:lstStyle/>
          <a:p>
            <a:pPr algn="l" indent="0" marL="0">
              <a:spcAft>
                <a:spcPts val="500"/>
              </a:spcAft>
              <a:buNone/>
            </a:pPr>
            <a:r>
              <a:rPr lang="en-US" sz="1050" b="1" dirty="0">
                <a:solidFill>
                  <a:srgbClr val="1C2833"/>
                </a:solidFill>
                <a:latin typeface="Arial" pitchFamily="34" charset="0"/>
                <a:ea typeface="Arial" pitchFamily="34" charset="-122"/>
                <a:cs typeface="Arial" pitchFamily="34" charset="-120"/>
              </a:rPr>
              <a:t>2. Data Stored in Purpose-Built Products</a:t>
            </a:r>
            <a:endParaRPr lang="en-US" sz="1050" dirty="0"/>
          </a:p>
        </p:txBody>
      </p:sp>
      <p:sp>
        <p:nvSpPr>
          <p:cNvPr id="11" name="Text 9"/>
          <p:cNvSpPr/>
          <p:nvPr/>
        </p:nvSpPr>
        <p:spPr>
          <a:xfrm>
            <a:off x="507950" y="3540323"/>
            <a:ext cx="4222700" cy="616744"/>
          </a:xfrm>
          <a:prstGeom prst="rect">
            <a:avLst/>
          </a:prstGeom>
          <a:noFill/>
          <a:ln/>
        </p:spPr>
        <p:txBody>
          <a:bodyPr wrap="square" lIns="114300" tIns="0" rIns="0" bIns="0" rtlCol="0" anchor="t"/>
          <a:lstStyle/>
          <a:p>
            <a:pPr algn="l" marL="114300" indent="-114300">
              <a:lnSpc>
                <a:spcPts val="1215"/>
              </a:lnSpc>
              <a:buSzPct val="100000"/>
              <a:buChar char="•"/>
            </a:pPr>
            <a:r>
              <a:rPr lang="en-US" sz="900" dirty="0">
                <a:solidFill>
                  <a:srgbClr val="2E4053"/>
                </a:solidFill>
                <a:latin typeface="Arial" pitchFamily="34" charset="0"/>
                <a:ea typeface="Arial" pitchFamily="34" charset="-122"/>
                <a:cs typeface="Arial" pitchFamily="34" charset="-120"/>
              </a:rPr>
              <a:t>MongoDB → RDS, DynamoDB, Aurora (right tool for job)</a:t>
            </a:r>
            <a:endParaRPr lang="en-US" sz="900" dirty="0"/>
          </a:p>
          <a:p>
            <a:pPr algn="l" marL="114300" indent="-114300">
              <a:lnSpc>
                <a:spcPts val="1215"/>
              </a:lnSpc>
              <a:buSzPct val="100000"/>
              <a:buChar char="•"/>
            </a:pPr>
            <a:r>
              <a:rPr lang="en-US" sz="900" dirty="0">
                <a:solidFill>
                  <a:srgbClr val="2E4053"/>
                </a:solidFill>
                <a:latin typeface="Arial" pitchFamily="34" charset="0"/>
                <a:ea typeface="Arial" pitchFamily="34" charset="-122"/>
                <a:cs typeface="Arial" pitchFamily="34" charset="-120"/>
              </a:rPr>
              <a:t>Scalability becomes elastic (not manual intervention)</a:t>
            </a:r>
            <a:endParaRPr lang="en-US" sz="900" dirty="0"/>
          </a:p>
          <a:p>
            <a:pPr algn="l" marL="114300" indent="-114300">
              <a:lnSpc>
                <a:spcPts val="1215"/>
              </a:lnSpc>
              <a:buSzPct val="100000"/>
              <a:buChar char="•"/>
            </a:pPr>
            <a:r>
              <a:rPr lang="en-US" sz="900" dirty="0">
                <a:solidFill>
                  <a:srgbClr val="2E4053"/>
                </a:solidFill>
                <a:latin typeface="Arial" pitchFamily="34" charset="0"/>
                <a:ea typeface="Arial" pitchFamily="34" charset="-122"/>
                <a:cs typeface="Arial" pitchFamily="34" charset="-120"/>
              </a:rPr>
              <a:t>HA/DR becomes config setting (not a project)</a:t>
            </a:r>
            <a:endParaRPr lang="en-US" sz="900" dirty="0"/>
          </a:p>
          <a:p>
            <a:pPr algn="l" marL="114300" indent="-114300">
              <a:lnSpc>
                <a:spcPts val="1215"/>
              </a:lnSpc>
              <a:buSzPct val="100000"/>
              <a:buChar char="•"/>
            </a:pPr>
            <a:r>
              <a:rPr lang="en-US" sz="900" dirty="0">
                <a:solidFill>
                  <a:srgbClr val="2E4053"/>
                </a:solidFill>
                <a:latin typeface="Arial" pitchFamily="34" charset="0"/>
                <a:ea typeface="Arial" pitchFamily="34" charset="-122"/>
                <a:cs typeface="Arial" pitchFamily="34" charset="-120"/>
              </a:rPr>
              <a:t>Cost optimization unlocked</a:t>
            </a:r>
            <a:endParaRPr lang="en-US" sz="900" dirty="0"/>
          </a:p>
        </p:txBody>
      </p:sp>
      <p:sp>
        <p:nvSpPr>
          <p:cNvPr id="12" name="Text 10"/>
          <p:cNvSpPr/>
          <p:nvPr/>
        </p:nvSpPr>
        <p:spPr>
          <a:xfrm>
            <a:off x="507950" y="4207818"/>
            <a:ext cx="4307154" cy="323850"/>
          </a:xfrm>
          <a:prstGeom prst="rect">
            <a:avLst/>
          </a:prstGeom>
          <a:noFill/>
          <a:ln/>
        </p:spPr>
        <p:txBody>
          <a:bodyPr wrap="square" lIns="0" tIns="0" rIns="0" bIns="0" rtlCol="0" anchor="t"/>
          <a:lstStyle/>
          <a:p>
            <a:pPr algn="l" indent="0" marL="0">
              <a:spcBef>
                <a:spcPts val="400"/>
              </a:spcBef>
              <a:buNone/>
            </a:pPr>
            <a:r>
              <a:rPr lang="en-US" sz="900" b="1" dirty="0">
                <a:solidFill>
                  <a:srgbClr val="2E4053"/>
                </a:solidFill>
                <a:latin typeface="Arial" pitchFamily="34" charset="0"/>
                <a:ea typeface="Arial" pitchFamily="34" charset="-122"/>
                <a:cs typeface="Arial" pitchFamily="34" charset="-120"/>
              </a:rPr>
              <a:t>🟡 Progress: 20% (Atlas migrations in progress, architectural changes in planning)</a:t>
            </a:r>
            <a:endParaRPr lang="en-US" sz="900" dirty="0"/>
          </a:p>
        </p:txBody>
      </p:sp>
      <p:sp>
        <p:nvSpPr>
          <p:cNvPr id="13" name="Text 11"/>
          <p:cNvSpPr/>
          <p:nvPr/>
        </p:nvSpPr>
        <p:spPr>
          <a:xfrm>
            <a:off x="4959251" y="1622227"/>
            <a:ext cx="3676799" cy="3301305"/>
          </a:xfrm>
          <a:prstGeom prst="rect">
            <a:avLst/>
          </a:prstGeom>
          <a:solidFill>
            <a:srgbClr val="F4F6F6"/>
          </a:solidFill>
          <a:ln/>
        </p:spPr>
        <p:txBody>
          <a:bodyPr wrap="square" rtlCol="0" anchor="ctr"/>
          <a:lstStyle/>
          <a:p>
            <a:pPr indent="0" marL="0">
              <a:buNone/>
            </a:pPr>
            <a:endParaRPr lang="en-US" dirty="0"/>
          </a:p>
        </p:txBody>
      </p:sp>
      <p:sp>
        <p:nvSpPr>
          <p:cNvPr id="14" name="Shape 12"/>
          <p:cNvSpPr/>
          <p:nvPr/>
        </p:nvSpPr>
        <p:spPr>
          <a:xfrm>
            <a:off x="4983063" y="1622227"/>
            <a:ext cx="0" cy="3301305"/>
          </a:xfrm>
          <a:prstGeom prst="line">
            <a:avLst/>
          </a:prstGeom>
          <a:noFill/>
          <a:ln w="47625">
            <a:solidFill>
              <a:srgbClr val="AAB7B8"/>
            </a:solidFill>
            <a:prstDash val="solid"/>
          </a:ln>
        </p:spPr>
      </p:sp>
      <p:sp>
        <p:nvSpPr>
          <p:cNvPr id="15" name="Text 13"/>
          <p:cNvSpPr/>
          <p:nvPr/>
        </p:nvSpPr>
        <p:spPr>
          <a:xfrm>
            <a:off x="5197376" y="1812727"/>
            <a:ext cx="3313137" cy="171450"/>
          </a:xfrm>
          <a:prstGeom prst="rect">
            <a:avLst/>
          </a:prstGeom>
          <a:noFill/>
          <a:ln/>
        </p:spPr>
        <p:txBody>
          <a:bodyPr wrap="square" lIns="0" tIns="0" rIns="0" bIns="0" rtlCol="0" anchor="t"/>
          <a:lstStyle/>
          <a:p>
            <a:pPr algn="l" indent="0" marL="0">
              <a:spcAft>
                <a:spcPts val="800"/>
              </a:spcAft>
              <a:buNone/>
            </a:pPr>
            <a:r>
              <a:rPr lang="en-US" sz="1200" b="1" dirty="0">
                <a:solidFill>
                  <a:srgbClr val="2E4053"/>
                </a:solidFill>
                <a:latin typeface="Arial" pitchFamily="34" charset="0"/>
                <a:ea typeface="Arial" pitchFamily="34" charset="-122"/>
                <a:cs typeface="Arial" pitchFamily="34" charset="-120"/>
              </a:rPr>
              <a:t>Negotiables</a:t>
            </a:r>
            <a:endParaRPr lang="en-US" sz="1200" dirty="0"/>
          </a:p>
        </p:txBody>
      </p:sp>
      <p:sp>
        <p:nvSpPr>
          <p:cNvPr id="16" name="Text 14"/>
          <p:cNvSpPr/>
          <p:nvPr/>
        </p:nvSpPr>
        <p:spPr>
          <a:xfrm>
            <a:off x="5197376" y="2085677"/>
            <a:ext cx="3313137" cy="114300"/>
          </a:xfrm>
          <a:prstGeom prst="rect">
            <a:avLst/>
          </a:prstGeom>
          <a:noFill/>
          <a:ln/>
        </p:spPr>
        <p:txBody>
          <a:bodyPr wrap="square" lIns="0" tIns="0" rIns="0" bIns="0" rtlCol="0" anchor="t"/>
          <a:lstStyle/>
          <a:p>
            <a:pPr algn="l" indent="0" marL="0">
              <a:spcAft>
                <a:spcPts val="600"/>
              </a:spcAft>
              <a:buNone/>
            </a:pPr>
            <a:r>
              <a:rPr lang="en-US" sz="850" dirty="0">
                <a:solidFill>
                  <a:srgbClr val="5D6D7E"/>
                </a:solidFill>
                <a:latin typeface="Arial" pitchFamily="34" charset="0"/>
                <a:ea typeface="Arial" pitchFamily="34" charset="-122"/>
                <a:cs typeface="Arial" pitchFamily="34" charset="-120"/>
              </a:rPr>
              <a:t>(Will improve things, but not blocking stability)</a:t>
            </a:r>
            <a:endParaRPr lang="en-US" sz="850" dirty="0"/>
          </a:p>
        </p:txBody>
      </p:sp>
      <p:sp>
        <p:nvSpPr>
          <p:cNvPr id="17" name="Text 15"/>
          <p:cNvSpPr/>
          <p:nvPr/>
        </p:nvSpPr>
        <p:spPr>
          <a:xfrm>
            <a:off x="5197376" y="2276177"/>
            <a:ext cx="3313137" cy="133350"/>
          </a:xfrm>
          <a:prstGeom prst="rect">
            <a:avLst/>
          </a:prstGeom>
          <a:noFill/>
          <a:ln/>
        </p:spPr>
        <p:txBody>
          <a:bodyPr wrap="square" lIns="0" tIns="0" rIns="0" bIns="0" rtlCol="0" anchor="t"/>
          <a:lstStyle/>
          <a:p>
            <a:pPr algn="l" indent="0" marL="0">
              <a:spcAft>
                <a:spcPts val="500"/>
              </a:spcAft>
              <a:buNone/>
            </a:pPr>
            <a:r>
              <a:rPr lang="en-US" sz="900" b="1" dirty="0">
                <a:solidFill>
                  <a:srgbClr val="1C2833"/>
                </a:solidFill>
                <a:latin typeface="Arial" pitchFamily="34" charset="0"/>
                <a:ea typeface="Arial" pitchFamily="34" charset="-122"/>
                <a:cs typeface="Arial" pitchFamily="34" charset="-120"/>
              </a:rPr>
              <a:t>Platform &amp; Data:</a:t>
            </a:r>
            <a:endParaRPr lang="en-US" sz="900" dirty="0"/>
          </a:p>
        </p:txBody>
      </p:sp>
      <p:sp>
        <p:nvSpPr>
          <p:cNvPr id="18" name="Text 16"/>
          <p:cNvSpPr/>
          <p:nvPr/>
        </p:nvSpPr>
        <p:spPr>
          <a:xfrm>
            <a:off x="5197376" y="2472928"/>
            <a:ext cx="3248174" cy="981373"/>
          </a:xfrm>
          <a:prstGeom prst="rect">
            <a:avLst/>
          </a:prstGeom>
          <a:noFill/>
          <a:ln/>
        </p:spPr>
        <p:txBody>
          <a:bodyPr wrap="square" lIns="114300" tIns="0" rIns="0" bIns="0" rtlCol="0" anchor="t"/>
          <a:lstStyle/>
          <a:p>
            <a:pPr algn="l" marL="114300" indent="-114300">
              <a:lnSpc>
                <a:spcPts val="1105"/>
              </a:lnSpc>
              <a:buSzPct val="100000"/>
              <a:buChar char="•"/>
            </a:pPr>
            <a:r>
              <a:rPr lang="en-US" sz="850" dirty="0">
                <a:solidFill>
                  <a:srgbClr val="2E4053"/>
                </a:solidFill>
                <a:latin typeface="Arial" pitchFamily="34" charset="0"/>
                <a:ea typeface="Arial" pitchFamily="34" charset="-122"/>
                <a:cs typeface="Arial" pitchFamily="34" charset="-120"/>
              </a:rPr>
              <a:t>Event/messaging system replacement (EventBus MongoDB → SQS/Kafka with SDK)</a:t>
            </a:r>
            <a:endParaRPr lang="en-US" sz="850" dirty="0"/>
          </a:p>
          <a:p>
            <a:pPr algn="l" marL="114300" indent="-114300">
              <a:lnSpc>
                <a:spcPts val="1105"/>
              </a:lnSpc>
              <a:buSzPct val="100000"/>
              <a:buChar char="•"/>
            </a:pPr>
            <a:r>
              <a:rPr lang="en-US" sz="850" dirty="0">
                <a:solidFill>
                  <a:srgbClr val="2E4053"/>
                </a:solidFill>
                <a:latin typeface="Arial" pitchFamily="34" charset="0"/>
                <a:ea typeface="Arial" pitchFamily="34" charset="-122"/>
                <a:cs typeface="Arial" pitchFamily="34" charset="-120"/>
              </a:rPr>
              <a:t>Activity Flow optimization (S3-based storage vs 188M docs/day churn)</a:t>
            </a:r>
            <a:endParaRPr lang="en-US" sz="850" dirty="0"/>
          </a:p>
          <a:p>
            <a:pPr algn="l" marL="114300" indent="-114300">
              <a:lnSpc>
                <a:spcPts val="1105"/>
              </a:lnSpc>
              <a:buSzPct val="100000"/>
              <a:buChar char="•"/>
            </a:pPr>
            <a:r>
              <a:rPr lang="en-US" sz="850" dirty="0">
                <a:solidFill>
                  <a:srgbClr val="2E4053"/>
                </a:solidFill>
                <a:latin typeface="Arial" pitchFamily="34" charset="0"/>
                <a:ea typeface="Arial" pitchFamily="34" charset="-122"/>
                <a:cs typeface="Arial" pitchFamily="34" charset="-120"/>
              </a:rPr>
              <a:t>Observability: extend log retention (7 days → longer), proactive alerting</a:t>
            </a:r>
            <a:endParaRPr lang="en-US" sz="850" dirty="0"/>
          </a:p>
          <a:p>
            <a:pPr algn="l" marL="114300" indent="-114300">
              <a:lnSpc>
                <a:spcPts val="1105"/>
              </a:lnSpc>
              <a:buSzPct val="100000"/>
              <a:buChar char="•"/>
            </a:pPr>
            <a:r>
              <a:rPr lang="en-US" sz="850" dirty="0">
                <a:solidFill>
                  <a:srgbClr val="2E4053"/>
                </a:solidFill>
                <a:latin typeface="Arial" pitchFamily="34" charset="0"/>
                <a:ea typeface="Arial" pitchFamily="34" charset="-122"/>
                <a:cs typeface="Arial" pitchFamily="34" charset="-120"/>
              </a:rPr>
              <a:t>Service health checks and monitoring improvements</a:t>
            </a:r>
            <a:endParaRPr lang="en-US" sz="850" dirty="0"/>
          </a:p>
        </p:txBody>
      </p:sp>
      <p:sp>
        <p:nvSpPr>
          <p:cNvPr id="19" name="Text 17"/>
          <p:cNvSpPr/>
          <p:nvPr/>
        </p:nvSpPr>
        <p:spPr>
          <a:xfrm>
            <a:off x="5197376" y="3530501"/>
            <a:ext cx="3313137" cy="133350"/>
          </a:xfrm>
          <a:prstGeom prst="rect">
            <a:avLst/>
          </a:prstGeom>
          <a:noFill/>
          <a:ln/>
        </p:spPr>
        <p:txBody>
          <a:bodyPr wrap="square" lIns="0" tIns="0" rIns="0" bIns="0" rtlCol="0" anchor="t"/>
          <a:lstStyle/>
          <a:p>
            <a:pPr algn="l" indent="0" marL="0">
              <a:spcAft>
                <a:spcPts val="500"/>
              </a:spcAft>
              <a:buNone/>
            </a:pPr>
            <a:r>
              <a:rPr lang="en-US" sz="900" b="1" dirty="0">
                <a:solidFill>
                  <a:srgbClr val="1C2833"/>
                </a:solidFill>
                <a:latin typeface="Arial" pitchFamily="34" charset="0"/>
                <a:ea typeface="Arial" pitchFamily="34" charset="-122"/>
                <a:cs typeface="Arial" pitchFamily="34" charset="-120"/>
              </a:rPr>
              <a:t>Development &amp; Delivery:</a:t>
            </a:r>
            <a:endParaRPr lang="en-US" sz="900" dirty="0"/>
          </a:p>
        </p:txBody>
      </p:sp>
      <p:sp>
        <p:nvSpPr>
          <p:cNvPr id="20" name="Text 18"/>
          <p:cNvSpPr/>
          <p:nvPr/>
        </p:nvSpPr>
        <p:spPr>
          <a:xfrm>
            <a:off x="5197376" y="3727252"/>
            <a:ext cx="3248174" cy="700980"/>
          </a:xfrm>
          <a:prstGeom prst="rect">
            <a:avLst/>
          </a:prstGeom>
          <a:noFill/>
          <a:ln/>
        </p:spPr>
        <p:txBody>
          <a:bodyPr wrap="square" lIns="114300" tIns="0" rIns="0" bIns="0" rtlCol="0" anchor="t"/>
          <a:lstStyle/>
          <a:p>
            <a:pPr algn="l" marL="114300" indent="-114300">
              <a:lnSpc>
                <a:spcPts val="1105"/>
              </a:lnSpc>
              <a:buSzPct val="100000"/>
              <a:buChar char="•"/>
            </a:pPr>
            <a:r>
              <a:rPr lang="en-US" sz="850" dirty="0">
                <a:solidFill>
                  <a:srgbClr val="2E4053"/>
                </a:solidFill>
                <a:latin typeface="Arial" pitchFamily="34" charset="0"/>
                <a:ea typeface="Arial" pitchFamily="34" charset="-122"/>
                <a:cs typeface="Arial" pitchFamily="34" charset="-120"/>
              </a:rPr>
              <a:t>Testing framework modernization (replace Tandoori)</a:t>
            </a:r>
            <a:endParaRPr lang="en-US" sz="850" dirty="0"/>
          </a:p>
          <a:p>
            <a:pPr algn="l" marL="114300" indent="-114300">
              <a:lnSpc>
                <a:spcPts val="1105"/>
              </a:lnSpc>
              <a:buSzPct val="100000"/>
              <a:buChar char="•"/>
            </a:pPr>
            <a:r>
              <a:rPr lang="en-US" sz="850" dirty="0">
                <a:solidFill>
                  <a:srgbClr val="2E4053"/>
                </a:solidFill>
                <a:latin typeface="Arial" pitchFamily="34" charset="0"/>
                <a:ea typeface="Arial" pitchFamily="34" charset="-122"/>
                <a:cs typeface="Arial" pitchFamily="34" charset="-120"/>
              </a:rPr>
              <a:t>Feature flags system</a:t>
            </a:r>
            <a:endParaRPr lang="en-US" sz="850" dirty="0"/>
          </a:p>
          <a:p>
            <a:pPr algn="l" marL="114300" indent="-114300">
              <a:lnSpc>
                <a:spcPts val="1105"/>
              </a:lnSpc>
              <a:buSzPct val="100000"/>
              <a:buChar char="•"/>
            </a:pPr>
            <a:r>
              <a:rPr lang="en-US" sz="850" dirty="0">
                <a:solidFill>
                  <a:srgbClr val="2E4053"/>
                </a:solidFill>
                <a:latin typeface="Arial" pitchFamily="34" charset="0"/>
                <a:ea typeface="Arial" pitchFamily="34" charset="-122"/>
                <a:cs typeface="Arial" pitchFamily="34" charset="-120"/>
              </a:rPr>
              <a:t>Mapping tool modernization (EDI → JSON, evaluate IBM Sterling/Edifecs)</a:t>
            </a:r>
            <a:endParaRPr lang="en-US" sz="850" dirty="0"/>
          </a:p>
          <a:p>
            <a:pPr algn="l" marL="114300" indent="-114300">
              <a:lnSpc>
                <a:spcPts val="1105"/>
              </a:lnSpc>
              <a:buSzPct val="100000"/>
              <a:buChar char="•"/>
            </a:pPr>
            <a:r>
              <a:rPr lang="en-US" sz="850" dirty="0">
                <a:solidFill>
                  <a:srgbClr val="2E4053"/>
                </a:solidFill>
                <a:latin typeface="Arial" pitchFamily="34" charset="0"/>
                <a:ea typeface="Arial" pitchFamily="34" charset="-122"/>
                <a:cs typeface="Arial" pitchFamily="34" charset="-120"/>
              </a:rPr>
              <a:t>Infrastructure tooling (GitHub Actions, containerization)</a:t>
            </a:r>
            <a:endParaRPr lang="en-US" sz="850" dirty="0"/>
          </a:p>
        </p:txBody>
      </p:sp>
      <p:sp>
        <p:nvSpPr>
          <p:cNvPr id="21" name="Text 19"/>
          <p:cNvSpPr/>
          <p:nvPr/>
        </p:nvSpPr>
        <p:spPr>
          <a:xfrm>
            <a:off x="5197376" y="4504432"/>
            <a:ext cx="3313137" cy="228600"/>
          </a:xfrm>
          <a:prstGeom prst="rect">
            <a:avLst/>
          </a:prstGeom>
          <a:noFill/>
          <a:ln/>
        </p:spPr>
        <p:txBody>
          <a:bodyPr wrap="square" lIns="0" tIns="0" rIns="0" bIns="0" rtlCol="0" anchor="t"/>
          <a:lstStyle/>
          <a:p>
            <a:pPr algn="l" indent="0" marL="0">
              <a:spcBef>
                <a:spcPts val="600"/>
              </a:spcBef>
              <a:buNone/>
            </a:pPr>
            <a:r>
              <a:rPr lang="en-US" sz="800" i="1" dirty="0">
                <a:solidFill>
                  <a:srgbClr val="5D6D7E"/>
                </a:solidFill>
                <a:latin typeface="Arial" pitchFamily="34" charset="0"/>
                <a:ea typeface="Arial" pitchFamily="34" charset="-122"/>
                <a:cs typeface="Arial" pitchFamily="34" charset="-120"/>
              </a:rPr>
              <a:t>These are Gen3 scope or continuous improvement. Not blocking "out of the woods."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Capacity Evolution (Q2 → Q3 → Q4)</a:t>
            </a:r>
            <a:endParaRPr lang="en-US" sz="2800" dirty="0"/>
          </a:p>
        </p:txBody>
      </p:sp>
      <p:sp>
        <p:nvSpPr>
          <p:cNvPr id="4" name="Text 2"/>
          <p:cNvSpPr/>
          <p:nvPr/>
        </p:nvSpPr>
        <p:spPr>
          <a:xfrm>
            <a:off x="0" y="917377"/>
            <a:ext cx="9144000" cy="457200"/>
          </a:xfrm>
          <a:prstGeom prst="rect">
            <a:avLst/>
          </a:prstGeom>
          <a:solidFill>
            <a:srgbClr val="F4F6F6"/>
          </a:solidFill>
          <a:ln/>
        </p:spPr>
        <p:txBody>
          <a:bodyPr wrap="square" rtlCol="0" anchor="ctr"/>
          <a:lstStyle/>
          <a:p>
            <a:pPr indent="0" marL="0">
              <a:buNone/>
            </a:pPr>
            <a:endParaRPr lang="en-US" dirty="0"/>
          </a:p>
        </p:txBody>
      </p:sp>
      <p:sp>
        <p:nvSpPr>
          <p:cNvPr id="5" name="Text 3"/>
          <p:cNvSpPr/>
          <p:nvPr/>
        </p:nvSpPr>
        <p:spPr>
          <a:xfrm>
            <a:off x="507950" y="1069777"/>
            <a:ext cx="8290661" cy="152400"/>
          </a:xfrm>
          <a:prstGeom prst="rect">
            <a:avLst/>
          </a:prstGeom>
          <a:noFill/>
          <a:ln/>
        </p:spPr>
        <p:txBody>
          <a:bodyPr wrap="square" lIns="0" tIns="0" rIns="0" bIns="0" rtlCol="0" anchor="t"/>
          <a:lstStyle/>
          <a:p>
            <a:pPr algn="l" indent="0" marL="0">
              <a:buNone/>
            </a:pPr>
            <a:r>
              <a:rPr lang="en-US" sz="1100" b="1" dirty="0">
                <a:solidFill>
                  <a:srgbClr val="2E4053"/>
                </a:solidFill>
                <a:latin typeface="Arial" pitchFamily="34" charset="0"/>
                <a:ea typeface="Arial" pitchFamily="34" charset="-122"/>
                <a:cs typeface="Arial" pitchFamily="34" charset="-120"/>
              </a:rPr>
              <a:t>Key: Autonomous teams reduce KTO burden, unlock roadmap capacity</a:t>
            </a:r>
            <a:endParaRPr lang="en-US" sz="1100" dirty="0"/>
          </a:p>
        </p:txBody>
      </p:sp>
      <p:sp>
        <p:nvSpPr>
          <p:cNvPr id="6" name="Text 4"/>
          <p:cNvSpPr/>
          <p:nvPr/>
        </p:nvSpPr>
        <p:spPr>
          <a:xfrm>
            <a:off x="3718471" y="3192363"/>
            <a:ext cx="1779910" cy="171450"/>
          </a:xfrm>
          <a:prstGeom prst="rect">
            <a:avLst/>
          </a:prstGeom>
          <a:noFill/>
          <a:ln/>
        </p:spPr>
        <p:txBody>
          <a:bodyPr wrap="square" lIns="0" tIns="0" rIns="0" bIns="0" rtlCol="0" anchor="t"/>
          <a:lstStyle/>
          <a:p>
            <a:pPr algn="l" indent="0" marL="0">
              <a:buNone/>
            </a:pPr>
            <a:r>
              <a:rPr lang="en-US" sz="1200" dirty="0">
                <a:solidFill>
                  <a:srgbClr val="7F8C8D"/>
                </a:solidFill>
                <a:latin typeface="Arial" pitchFamily="34" charset="0"/>
                <a:ea typeface="Arial" pitchFamily="34" charset="-122"/>
                <a:cs typeface="Arial" pitchFamily="34" charset="-120"/>
              </a:rPr>
              <a:t>Chart: Capacity Allocation</a:t>
            </a:r>
            <a:endParaRPr lang="en-US" sz="1200" dirty="0"/>
          </a:p>
        </p:txBody>
      </p:sp>
      <p:graphicFrame>
        <p:nvGraphicFramePr>
          <p:cNvPr id="7" name="Chart 0" descr=""/>
          <p:cNvGraphicFramePr/>
          <p:nvPr/>
        </p:nvGraphicFramePr>
        <p:xfrm>
          <a:off x="507950" y="1966347"/>
          <a:ext cx="228600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3068270" y="1966347"/>
          <a:ext cx="2286000" cy="2286000"/>
        </p:xfrm>
        <a:graphic xmlns:a="http://schemas.openxmlformats.org/drawingml/2006/main">
          <a:graphicData uri="http://schemas.openxmlformats.org/drawingml/2006/chart">
            <c:chart xmlns:c="http://schemas.openxmlformats.org/drawingml/2006/chart" r:id="rId2"/>
          </a:graphicData>
        </a:graphic>
      </p:graphicFrame>
      <p:graphicFrame>
        <p:nvGraphicFramePr>
          <p:cNvPr id="9" name="Chart 2" descr=""/>
          <p:cNvGraphicFramePr/>
          <p:nvPr/>
        </p:nvGraphicFramePr>
        <p:xfrm>
          <a:off x="5628590" y="1966347"/>
          <a:ext cx="2286000" cy="228600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Org Chart - The New Structure</a:t>
            </a:r>
            <a:endParaRPr lang="en-US" sz="2800" dirty="0"/>
          </a:p>
        </p:txBody>
      </p:sp>
      <p:sp>
        <p:nvSpPr>
          <p:cNvPr id="4" name="Text 2"/>
          <p:cNvSpPr/>
          <p:nvPr/>
        </p:nvSpPr>
        <p:spPr>
          <a:xfrm>
            <a:off x="507950" y="1234827"/>
            <a:ext cx="3555950" cy="1824930"/>
          </a:xfrm>
          <a:prstGeom prst="rect">
            <a:avLst/>
          </a:prstGeom>
          <a:solidFill>
            <a:srgbClr val="F4F6F6"/>
          </a:solidFill>
          <a:ln/>
        </p:spPr>
        <p:txBody>
          <a:bodyPr wrap="square" rtlCol="0" anchor="ctr"/>
          <a:lstStyle/>
          <a:p>
            <a:pPr indent="0" marL="0">
              <a:buNone/>
            </a:pPr>
            <a:endParaRPr lang="en-US" dirty="0"/>
          </a:p>
        </p:txBody>
      </p:sp>
      <p:sp>
        <p:nvSpPr>
          <p:cNvPr id="5" name="Shape 3"/>
          <p:cNvSpPr/>
          <p:nvPr/>
        </p:nvSpPr>
        <p:spPr>
          <a:xfrm>
            <a:off x="531763" y="1234827"/>
            <a:ext cx="0" cy="1824930"/>
          </a:xfrm>
          <a:prstGeom prst="line">
            <a:avLst/>
          </a:prstGeom>
          <a:noFill/>
          <a:ln w="47625">
            <a:solidFill>
              <a:srgbClr val="1C2833"/>
            </a:solidFill>
            <a:prstDash val="solid"/>
          </a:ln>
        </p:spPr>
      </p:sp>
      <p:sp>
        <p:nvSpPr>
          <p:cNvPr id="6" name="Text 4"/>
          <p:cNvSpPr/>
          <p:nvPr/>
        </p:nvSpPr>
        <p:spPr>
          <a:xfrm>
            <a:off x="809476" y="1488728"/>
            <a:ext cx="3060534" cy="200025"/>
          </a:xfrm>
          <a:prstGeom prst="rect">
            <a:avLst/>
          </a:prstGeom>
          <a:noFill/>
          <a:ln/>
        </p:spPr>
        <p:txBody>
          <a:bodyPr wrap="square" lIns="0" tIns="0" rIns="0" bIns="0" rtlCol="0" anchor="t"/>
          <a:lstStyle/>
          <a:p>
            <a:pPr algn="l" indent="0" marL="0">
              <a:spcAft>
                <a:spcPts val="1000"/>
              </a:spcAft>
              <a:buNone/>
            </a:pPr>
            <a:r>
              <a:rPr lang="en-US" sz="1300" b="1" dirty="0">
                <a:solidFill>
                  <a:srgbClr val="1C2833"/>
                </a:solidFill>
                <a:latin typeface="Arial" pitchFamily="34" charset="0"/>
                <a:ea typeface="Arial" pitchFamily="34" charset="-122"/>
                <a:cs typeface="Arial" pitchFamily="34" charset="-120"/>
              </a:rPr>
              <a:t>The Transformation</a:t>
            </a:r>
            <a:endParaRPr lang="en-US" sz="1300" dirty="0"/>
          </a:p>
        </p:txBody>
      </p:sp>
      <p:sp>
        <p:nvSpPr>
          <p:cNvPr id="7" name="Text 5"/>
          <p:cNvSpPr/>
          <p:nvPr/>
        </p:nvSpPr>
        <p:spPr>
          <a:xfrm>
            <a:off x="809476" y="1815703"/>
            <a:ext cx="3060534" cy="209550"/>
          </a:xfrm>
          <a:prstGeom prst="rect">
            <a:avLst/>
          </a:prstGeom>
          <a:noFill/>
          <a:ln/>
        </p:spPr>
        <p:txBody>
          <a:bodyPr wrap="square" lIns="0" tIns="0" rIns="0" bIns="0" rtlCol="0" anchor="t"/>
          <a:lstStyle/>
          <a:p>
            <a:pPr algn="l" indent="0" marL="0">
              <a:lnSpc>
                <a:spcPts val="1650"/>
              </a:lnSpc>
              <a:spcBef>
                <a:spcPts val="500"/>
              </a:spcBef>
              <a:spcAft>
                <a:spcPts val="500"/>
              </a:spcAft>
              <a:buNone/>
            </a:pPr>
            <a:r>
              <a:rPr lang="en-US" sz="1100" b="1" dirty="0">
                <a:solidFill>
                  <a:srgbClr val="2E4053"/>
                </a:solidFill>
                <a:latin typeface="Arial" pitchFamily="34" charset="0"/>
                <a:ea typeface="Arial" pitchFamily="34" charset="-122"/>
                <a:cs typeface="Arial" pitchFamily="34" charset="-120"/>
              </a:rPr>
              <a:t>Before:</a:t>
            </a:r>
            <a:pPr algn="l" indent="0" marL="0">
              <a:lnSpc>
                <a:spcPts val="1650"/>
              </a:lnSpc>
              <a:spcBef>
                <a:spcPts val="500"/>
              </a:spcBef>
              <a:spcAft>
                <a:spcPts val="500"/>
              </a:spcAft>
              <a:buNone/>
            </a:pPr>
            <a:r>
              <a:rPr lang="en-US" sz="1100" dirty="0">
                <a:solidFill>
                  <a:srgbClr val="2E4053"/>
                </a:solidFill>
                <a:latin typeface="Arial" pitchFamily="34" charset="0"/>
                <a:ea typeface="Arial" pitchFamily="34" charset="-122"/>
                <a:cs typeface="Arial" pitchFamily="34" charset="-120"/>
              </a:rPr>
              <a:t> 1 Director → 3 EMs → 80 engineers</a:t>
            </a:r>
            <a:endParaRPr lang="en-US" sz="1100" dirty="0"/>
          </a:p>
        </p:txBody>
      </p:sp>
      <p:sp>
        <p:nvSpPr>
          <p:cNvPr id="8" name="Text 6"/>
          <p:cNvSpPr/>
          <p:nvPr/>
        </p:nvSpPr>
        <p:spPr>
          <a:xfrm>
            <a:off x="809476" y="2126754"/>
            <a:ext cx="3060534" cy="304651"/>
          </a:xfrm>
          <a:prstGeom prst="rect">
            <a:avLst/>
          </a:prstGeom>
          <a:noFill/>
          <a:ln/>
        </p:spPr>
        <p:txBody>
          <a:bodyPr wrap="square" lIns="0" tIns="0" rIns="0" bIns="0" rtlCol="0" anchor="t"/>
          <a:lstStyle/>
          <a:p>
            <a:pPr algn="l" indent="0" marL="0">
              <a:lnSpc>
                <a:spcPts val="2400"/>
              </a:lnSpc>
              <a:spcBef>
                <a:spcPts val="800"/>
              </a:spcBef>
              <a:spcAft>
                <a:spcPts val="800"/>
              </a:spcAft>
              <a:buNone/>
            </a:pPr>
            <a:r>
              <a:rPr lang="en-US" sz="1600" b="1" dirty="0">
                <a:solidFill>
                  <a:srgbClr val="1C2833"/>
                </a:solidFill>
                <a:latin typeface="Arial" pitchFamily="34" charset="0"/>
                <a:ea typeface="Arial" pitchFamily="34" charset="-122"/>
                <a:cs typeface="Arial" pitchFamily="34" charset="-120"/>
              </a:rPr>
              <a:t>↓</a:t>
            </a:r>
            <a:endParaRPr lang="en-US" sz="1600" dirty="0"/>
          </a:p>
        </p:txBody>
      </p:sp>
      <p:sp>
        <p:nvSpPr>
          <p:cNvPr id="9" name="Text 7"/>
          <p:cNvSpPr/>
          <p:nvPr/>
        </p:nvSpPr>
        <p:spPr>
          <a:xfrm>
            <a:off x="809476" y="2532906"/>
            <a:ext cx="3060534" cy="209550"/>
          </a:xfrm>
          <a:prstGeom prst="rect">
            <a:avLst/>
          </a:prstGeom>
          <a:noFill/>
          <a:ln/>
        </p:spPr>
        <p:txBody>
          <a:bodyPr wrap="square" lIns="0" tIns="0" rIns="0" bIns="0" rtlCol="0" anchor="t"/>
          <a:lstStyle/>
          <a:p>
            <a:pPr algn="l" indent="0" marL="0">
              <a:lnSpc>
                <a:spcPts val="1650"/>
              </a:lnSpc>
              <a:spcBef>
                <a:spcPts val="500"/>
              </a:spcBef>
              <a:spcAft>
                <a:spcPts val="500"/>
              </a:spcAft>
              <a:buNone/>
            </a:pPr>
            <a:r>
              <a:rPr lang="en-US" sz="1100" b="1" dirty="0">
                <a:solidFill>
                  <a:srgbClr val="2E4053"/>
                </a:solidFill>
                <a:latin typeface="Arial" pitchFamily="34" charset="0"/>
                <a:ea typeface="Arial" pitchFamily="34" charset="-122"/>
                <a:cs typeface="Arial" pitchFamily="34" charset="-120"/>
              </a:rPr>
              <a:t>After:</a:t>
            </a:r>
            <a:pPr algn="l" indent="0" marL="0">
              <a:lnSpc>
                <a:spcPts val="1650"/>
              </a:lnSpc>
              <a:spcBef>
                <a:spcPts val="500"/>
              </a:spcBef>
              <a:spcAft>
                <a:spcPts val="500"/>
              </a:spcAft>
              <a:buNone/>
            </a:pPr>
            <a:r>
              <a:rPr lang="en-US" sz="1100" dirty="0">
                <a:solidFill>
                  <a:srgbClr val="2E4053"/>
                </a:solidFill>
                <a:latin typeface="Arial" pitchFamily="34" charset="0"/>
                <a:ea typeface="Arial" pitchFamily="34" charset="-122"/>
                <a:cs typeface="Arial" pitchFamily="34" charset="-120"/>
              </a:rPr>
              <a:t> 4 Directors → 12 EMs → ~80 engineers</a:t>
            </a:r>
            <a:endParaRPr lang="en-US" sz="1100" dirty="0"/>
          </a:p>
        </p:txBody>
      </p:sp>
      <p:sp>
        <p:nvSpPr>
          <p:cNvPr id="10" name="Text 8"/>
          <p:cNvSpPr/>
          <p:nvPr/>
        </p:nvSpPr>
        <p:spPr>
          <a:xfrm>
            <a:off x="507950" y="3250257"/>
            <a:ext cx="3627069" cy="171450"/>
          </a:xfrm>
          <a:prstGeom prst="rect">
            <a:avLst/>
          </a:prstGeom>
          <a:noFill/>
          <a:ln/>
        </p:spPr>
        <p:txBody>
          <a:bodyPr wrap="square" lIns="0" tIns="0" rIns="0" bIns="0" rtlCol="0" anchor="t"/>
          <a:lstStyle/>
          <a:p>
            <a:pPr algn="l" indent="0" marL="0">
              <a:spcAft>
                <a:spcPts val="1000"/>
              </a:spcAft>
              <a:buNone/>
            </a:pPr>
            <a:r>
              <a:rPr lang="en-US" sz="1200" b="1" dirty="0">
                <a:solidFill>
                  <a:srgbClr val="1C2833"/>
                </a:solidFill>
                <a:latin typeface="Arial" pitchFamily="34" charset="0"/>
                <a:ea typeface="Arial" pitchFamily="34" charset="-122"/>
                <a:cs typeface="Arial" pitchFamily="34" charset="-120"/>
              </a:rPr>
              <a:t>Each Team:</a:t>
            </a:r>
            <a:endParaRPr lang="en-US" sz="1200" dirty="0"/>
          </a:p>
        </p:txBody>
      </p:sp>
      <p:sp>
        <p:nvSpPr>
          <p:cNvPr id="11" name="Text 9"/>
          <p:cNvSpPr/>
          <p:nvPr/>
        </p:nvSpPr>
        <p:spPr>
          <a:xfrm>
            <a:off x="507950" y="3548658"/>
            <a:ext cx="3555950" cy="951756"/>
          </a:xfrm>
          <a:prstGeom prst="rect">
            <a:avLst/>
          </a:prstGeom>
          <a:noFill/>
          <a:ln/>
        </p:spPr>
        <p:txBody>
          <a:bodyPr wrap="square" lIns="114300" tIns="0" rIns="0" bIns="0" rtlCol="0" anchor="t"/>
          <a:lstStyle/>
          <a:p>
            <a:pPr algn="l" marL="114300" indent="-114300">
              <a:lnSpc>
                <a:spcPts val="1500"/>
              </a:lnSpc>
              <a:buSzPct val="100000"/>
              <a:buChar char="•"/>
            </a:pPr>
            <a:r>
              <a:rPr lang="en-US" sz="1000" dirty="0">
                <a:solidFill>
                  <a:srgbClr val="2E4053"/>
                </a:solidFill>
                <a:latin typeface="Arial" pitchFamily="34" charset="0"/>
                <a:ea typeface="Arial" pitchFamily="34" charset="-122"/>
                <a:cs typeface="Arial" pitchFamily="34" charset="-120"/>
              </a:rPr>
              <a:t>6-8 engineers</a:t>
            </a:r>
            <a:endParaRPr lang="en-US" sz="1000" dirty="0"/>
          </a:p>
          <a:p>
            <a:pPr algn="l" marL="114300" indent="-114300">
              <a:lnSpc>
                <a:spcPts val="1500"/>
              </a:lnSpc>
              <a:buSzPct val="100000"/>
              <a:buChar char="•"/>
            </a:pPr>
            <a:r>
              <a:rPr lang="en-US" sz="1000" dirty="0">
                <a:solidFill>
                  <a:srgbClr val="2E4053"/>
                </a:solidFill>
                <a:latin typeface="Arial" pitchFamily="34" charset="0"/>
                <a:ea typeface="Arial" pitchFamily="34" charset="-122"/>
                <a:cs typeface="Arial" pitchFamily="34" charset="-120"/>
              </a:rPr>
              <a:t>Cross-functional (backend, frontend, QA, DevOps)</a:t>
            </a:r>
            <a:endParaRPr lang="en-US" sz="1000" dirty="0"/>
          </a:p>
          <a:p>
            <a:pPr algn="l" marL="114300" indent="-114300">
              <a:lnSpc>
                <a:spcPts val="1500"/>
              </a:lnSpc>
              <a:buSzPct val="100000"/>
              <a:buChar char="•"/>
            </a:pPr>
            <a:r>
              <a:rPr lang="en-US" sz="1000" dirty="0">
                <a:solidFill>
                  <a:srgbClr val="2E4053"/>
                </a:solidFill>
                <a:latin typeface="Arial" pitchFamily="34" charset="0"/>
                <a:ea typeface="Arial" pitchFamily="34" charset="-122"/>
                <a:cs typeface="Arial" pitchFamily="34" charset="-120"/>
              </a:rPr>
              <a:t>Domain-aligned (Platform Services, Business Logic, Data/Integration, etc.)</a:t>
            </a:r>
            <a:endParaRPr lang="en-US" sz="1000" dirty="0"/>
          </a:p>
          <a:p>
            <a:pPr algn="l" marL="114300" indent="-114300">
              <a:lnSpc>
                <a:spcPts val="1500"/>
              </a:lnSpc>
              <a:buSzPct val="100000"/>
              <a:buChar char="•"/>
            </a:pPr>
            <a:r>
              <a:rPr lang="en-US" sz="1000" dirty="0">
                <a:solidFill>
                  <a:srgbClr val="2E4053"/>
                </a:solidFill>
                <a:latin typeface="Arial" pitchFamily="34" charset="0"/>
                <a:ea typeface="Arial" pitchFamily="34" charset="-122"/>
                <a:cs typeface="Arial" pitchFamily="34" charset="-120"/>
              </a:rPr>
              <a:t>Autonomous delivery capability</a:t>
            </a:r>
            <a:endParaRPr lang="en-US" sz="1000" dirty="0"/>
          </a:p>
        </p:txBody>
      </p:sp>
      <p:sp>
        <p:nvSpPr>
          <p:cNvPr id="12" name="Text 10"/>
          <p:cNvSpPr/>
          <p:nvPr/>
        </p:nvSpPr>
        <p:spPr>
          <a:xfrm>
            <a:off x="5934075" y="2963763"/>
            <a:ext cx="1146277" cy="171450"/>
          </a:xfrm>
          <a:prstGeom prst="rect">
            <a:avLst/>
          </a:prstGeom>
          <a:noFill/>
          <a:ln/>
        </p:spPr>
        <p:txBody>
          <a:bodyPr wrap="square" lIns="0" tIns="0" rIns="0" bIns="0" rtlCol="0" anchor="t"/>
          <a:lstStyle/>
          <a:p>
            <a:pPr algn="l" indent="0" marL="0">
              <a:buNone/>
            </a:pPr>
            <a:r>
              <a:rPr lang="en-US" sz="1200" dirty="0">
                <a:solidFill>
                  <a:srgbClr val="7F8C8D"/>
                </a:solidFill>
                <a:latin typeface="Arial" pitchFamily="34" charset="0"/>
                <a:ea typeface="Arial" pitchFamily="34" charset="-122"/>
                <a:cs typeface="Arial" pitchFamily="34" charset="-120"/>
              </a:rPr>
              <a:t>Org Chart Visual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917377"/>
          </a:xfrm>
          <a:prstGeom prst="rect">
            <a:avLst/>
          </a:prstGeom>
          <a:solidFill>
            <a:srgbClr val="1C2833"/>
          </a:solidFill>
          <a:ln/>
        </p:spPr>
        <p:txBody>
          <a:bodyPr wrap="square" rtlCol="0" anchor="ctr"/>
          <a:lstStyle/>
          <a:p>
            <a:pPr indent="0" marL="0">
              <a:buNone/>
            </a:pPr>
            <a:endParaRPr lang="en-US" dirty="0"/>
          </a:p>
        </p:txBody>
      </p:sp>
      <p:sp>
        <p:nvSpPr>
          <p:cNvPr id="3" name="Text 1"/>
          <p:cNvSpPr/>
          <p:nvPr/>
        </p:nvSpPr>
        <p:spPr>
          <a:xfrm>
            <a:off x="507950" y="253901"/>
            <a:ext cx="8290661" cy="409575"/>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The Future - 100% Self-Serve</a:t>
            </a:r>
            <a:endParaRPr lang="en-US" sz="2800" dirty="0"/>
          </a:p>
        </p:txBody>
      </p:sp>
      <p:sp>
        <p:nvSpPr>
          <p:cNvPr id="4" name="Text 2"/>
          <p:cNvSpPr/>
          <p:nvPr/>
        </p:nvSpPr>
        <p:spPr>
          <a:xfrm>
            <a:off x="762000" y="1298377"/>
            <a:ext cx="7620000" cy="745927"/>
          </a:xfrm>
          <a:prstGeom prst="rect">
            <a:avLst/>
          </a:prstGeom>
          <a:solidFill>
            <a:srgbClr val="F4F6F6"/>
          </a:solidFill>
          <a:ln/>
        </p:spPr>
        <p:txBody>
          <a:bodyPr wrap="square" rtlCol="0" anchor="ctr"/>
          <a:lstStyle/>
          <a:p>
            <a:pPr indent="0" marL="0">
              <a:buNone/>
            </a:pPr>
            <a:endParaRPr lang="en-US" dirty="0"/>
          </a:p>
        </p:txBody>
      </p:sp>
      <p:sp>
        <p:nvSpPr>
          <p:cNvPr id="5" name="Shape 3"/>
          <p:cNvSpPr/>
          <p:nvPr/>
        </p:nvSpPr>
        <p:spPr>
          <a:xfrm>
            <a:off x="800100" y="1298377"/>
            <a:ext cx="0" cy="745927"/>
          </a:xfrm>
          <a:prstGeom prst="line">
            <a:avLst/>
          </a:prstGeom>
          <a:noFill/>
          <a:ln w="76200">
            <a:solidFill>
              <a:srgbClr val="1C2833"/>
            </a:solidFill>
            <a:prstDash val="solid"/>
          </a:ln>
        </p:spPr>
      </p:sp>
      <p:sp>
        <p:nvSpPr>
          <p:cNvPr id="6" name="Text 4"/>
          <p:cNvSpPr/>
          <p:nvPr/>
        </p:nvSpPr>
        <p:spPr>
          <a:xfrm>
            <a:off x="1092101" y="1552277"/>
            <a:ext cx="7176718" cy="238125"/>
          </a:xfrm>
          <a:prstGeom prst="rect">
            <a:avLst/>
          </a:prstGeom>
          <a:noFill/>
          <a:ln/>
        </p:spPr>
        <p:txBody>
          <a:bodyPr wrap="square" lIns="0" tIns="0" rIns="0" bIns="0" rtlCol="0" anchor="t"/>
          <a:lstStyle/>
          <a:p>
            <a:pPr algn="l" indent="0" marL="0">
              <a:buNone/>
            </a:pPr>
            <a:r>
              <a:rPr lang="en-US" sz="1600" b="1" dirty="0">
                <a:solidFill>
                  <a:srgbClr val="1C2833"/>
                </a:solidFill>
                <a:latin typeface="Arial" pitchFamily="34" charset="0"/>
                <a:ea typeface="Arial" pitchFamily="34" charset="-122"/>
                <a:cs typeface="Arial" pitchFamily="34" charset="-120"/>
              </a:rPr>
              <a:t>Steve's vision: 100% self-serve customer experience</a:t>
            </a:r>
            <a:endParaRPr lang="en-US" sz="1600" dirty="0"/>
          </a:p>
        </p:txBody>
      </p:sp>
      <p:sp>
        <p:nvSpPr>
          <p:cNvPr id="7" name="Text 5"/>
          <p:cNvSpPr/>
          <p:nvPr/>
        </p:nvSpPr>
        <p:spPr>
          <a:xfrm>
            <a:off x="762000" y="2298204"/>
            <a:ext cx="7772400" cy="171450"/>
          </a:xfrm>
          <a:prstGeom prst="rect">
            <a:avLst/>
          </a:prstGeom>
          <a:noFill/>
          <a:ln/>
        </p:spPr>
        <p:txBody>
          <a:bodyPr wrap="square" lIns="0" tIns="0" rIns="0" bIns="0" rtlCol="0" anchor="t"/>
          <a:lstStyle/>
          <a:p>
            <a:pPr algn="l" indent="0" marL="0">
              <a:spcAft>
                <a:spcPts val="800"/>
              </a:spcAft>
              <a:buNone/>
            </a:pPr>
            <a:r>
              <a:rPr lang="en-US" sz="1200" b="1" dirty="0">
                <a:solidFill>
                  <a:srgbClr val="1C2833"/>
                </a:solidFill>
                <a:latin typeface="Arial" pitchFamily="34" charset="0"/>
                <a:ea typeface="Arial" pitchFamily="34" charset="-122"/>
                <a:cs typeface="Arial" pitchFamily="34" charset="-120"/>
              </a:rPr>
              <a:t>What this requires from us:</a:t>
            </a:r>
            <a:endParaRPr lang="en-US" sz="1200" dirty="0"/>
          </a:p>
        </p:txBody>
      </p:sp>
      <p:sp>
        <p:nvSpPr>
          <p:cNvPr id="8" name="Text 6"/>
          <p:cNvSpPr/>
          <p:nvPr/>
        </p:nvSpPr>
        <p:spPr>
          <a:xfrm>
            <a:off x="762000" y="2571155"/>
            <a:ext cx="7620000" cy="951756"/>
          </a:xfrm>
          <a:prstGeom prst="rect">
            <a:avLst/>
          </a:prstGeom>
          <a:noFill/>
          <a:ln/>
        </p:spPr>
        <p:txBody>
          <a:bodyPr wrap="square" lIns="127000" tIns="0" rIns="0" bIns="0" rtlCol="0" anchor="t"/>
          <a:lstStyle/>
          <a:p>
            <a:pPr algn="l" marL="127000" indent="-127000">
              <a:lnSpc>
                <a:spcPts val="1500"/>
              </a:lnSpc>
              <a:buSzPct val="100000"/>
              <a:buChar char="•"/>
            </a:pPr>
            <a:r>
              <a:rPr lang="en-US" sz="1000" dirty="0">
                <a:solidFill>
                  <a:srgbClr val="2E4053"/>
                </a:solidFill>
                <a:latin typeface="Arial" pitchFamily="34" charset="0"/>
                <a:ea typeface="Arial" pitchFamily="34" charset="-122"/>
                <a:cs typeface="Arial" pitchFamily="34" charset="-120"/>
              </a:rPr>
              <a:t>Autonomous teams that can move fast without coordination tax</a:t>
            </a:r>
            <a:endParaRPr lang="en-US" sz="1000" dirty="0"/>
          </a:p>
          <a:p>
            <a:pPr algn="l" marL="127000" indent="-127000">
              <a:lnSpc>
                <a:spcPts val="1500"/>
              </a:lnSpc>
              <a:buSzPct val="100000"/>
              <a:buChar char="•"/>
            </a:pPr>
            <a:r>
              <a:rPr lang="en-US" sz="1000" dirty="0">
                <a:solidFill>
                  <a:srgbClr val="2E4053"/>
                </a:solidFill>
                <a:latin typeface="Arial" pitchFamily="34" charset="0"/>
                <a:ea typeface="Arial" pitchFamily="34" charset="-122"/>
                <a:cs typeface="Arial" pitchFamily="34" charset="-120"/>
              </a:rPr>
              <a:t>Modern, decoupled architecture that supports rapid iteration</a:t>
            </a:r>
            <a:endParaRPr lang="en-US" sz="1000" dirty="0"/>
          </a:p>
          <a:p>
            <a:pPr algn="l" marL="127000" indent="-127000">
              <a:lnSpc>
                <a:spcPts val="1500"/>
              </a:lnSpc>
              <a:buSzPct val="100000"/>
              <a:buChar char="•"/>
            </a:pPr>
            <a:r>
              <a:rPr lang="en-US" sz="1000" dirty="0">
                <a:solidFill>
                  <a:srgbClr val="2E4053"/>
                </a:solidFill>
                <a:latin typeface="Arial" pitchFamily="34" charset="0"/>
                <a:ea typeface="Arial" pitchFamily="34" charset="-122"/>
                <a:cs typeface="Arial" pitchFamily="34" charset="-120"/>
              </a:rPr>
              <a:t>Data layer that scales infinitely without manual intervention</a:t>
            </a:r>
            <a:endParaRPr lang="en-US" sz="1000" dirty="0"/>
          </a:p>
          <a:p>
            <a:pPr algn="l" marL="127000" indent="-127000">
              <a:lnSpc>
                <a:spcPts val="1500"/>
              </a:lnSpc>
              <a:buSzPct val="100000"/>
              <a:buChar char="•"/>
            </a:pPr>
            <a:r>
              <a:rPr lang="en-US" sz="1000" dirty="0">
                <a:solidFill>
                  <a:srgbClr val="2E4053"/>
                </a:solidFill>
                <a:latin typeface="Arial" pitchFamily="34" charset="0"/>
                <a:ea typeface="Arial" pitchFamily="34" charset="-122"/>
                <a:cs typeface="Arial" pitchFamily="34" charset="-120"/>
              </a:rPr>
              <a:t>Platform capabilities (CDP, AI Platform) that enable new products quickly</a:t>
            </a:r>
            <a:endParaRPr lang="en-US" sz="1000" dirty="0"/>
          </a:p>
          <a:p>
            <a:pPr algn="l" marL="127000" indent="-127000">
              <a:lnSpc>
                <a:spcPts val="1500"/>
              </a:lnSpc>
              <a:buSzPct val="100000"/>
              <a:buChar char="•"/>
            </a:pPr>
            <a:r>
              <a:rPr lang="en-US" sz="1000" dirty="0">
                <a:solidFill>
                  <a:srgbClr val="2E4053"/>
                </a:solidFill>
                <a:latin typeface="Arial" pitchFamily="34" charset="0"/>
                <a:ea typeface="Arial" pitchFamily="34" charset="-122"/>
                <a:cs typeface="Arial" pitchFamily="34" charset="-120"/>
              </a:rPr>
              <a:t>Culture of experimentation and incremental delivery</a:t>
            </a:r>
            <a:endParaRPr lang="en-US" sz="1000" dirty="0"/>
          </a:p>
        </p:txBody>
      </p:sp>
      <p:sp>
        <p:nvSpPr>
          <p:cNvPr id="9" name="Text 7"/>
          <p:cNvSpPr/>
          <p:nvPr/>
        </p:nvSpPr>
        <p:spPr>
          <a:xfrm>
            <a:off x="762000" y="3726061"/>
            <a:ext cx="7772400" cy="171450"/>
          </a:xfrm>
          <a:prstGeom prst="rect">
            <a:avLst/>
          </a:prstGeom>
          <a:noFill/>
          <a:ln/>
        </p:spPr>
        <p:txBody>
          <a:bodyPr wrap="square" lIns="0" tIns="0" rIns="0" bIns="0" rtlCol="0" anchor="t"/>
          <a:lstStyle/>
          <a:p>
            <a:pPr algn="l" indent="0" marL="0">
              <a:spcAft>
                <a:spcPts val="800"/>
              </a:spcAft>
              <a:buNone/>
            </a:pPr>
            <a:r>
              <a:rPr lang="en-US" sz="1200" b="1" dirty="0">
                <a:solidFill>
                  <a:srgbClr val="1C2833"/>
                </a:solidFill>
                <a:latin typeface="Arial" pitchFamily="34" charset="0"/>
                <a:ea typeface="Arial" pitchFamily="34" charset="-122"/>
                <a:cs typeface="Arial" pitchFamily="34" charset="-120"/>
              </a:rPr>
              <a:t>Why we're building for this:</a:t>
            </a:r>
            <a:endParaRPr lang="en-US" sz="1200" dirty="0"/>
          </a:p>
        </p:txBody>
      </p:sp>
      <p:sp>
        <p:nvSpPr>
          <p:cNvPr id="10" name="Text 8"/>
          <p:cNvSpPr/>
          <p:nvPr/>
        </p:nvSpPr>
        <p:spPr>
          <a:xfrm>
            <a:off x="762000" y="3999012"/>
            <a:ext cx="7772400" cy="380702"/>
          </a:xfrm>
          <a:prstGeom prst="rect">
            <a:avLst/>
          </a:prstGeom>
          <a:noFill/>
          <a:ln/>
        </p:spPr>
        <p:txBody>
          <a:bodyPr wrap="square" lIns="0" tIns="0" rIns="0" bIns="0" rtlCol="0" anchor="t"/>
          <a:lstStyle/>
          <a:p>
            <a:pPr algn="l" indent="0" marL="0">
              <a:lnSpc>
                <a:spcPts val="1500"/>
              </a:lnSpc>
              <a:buNone/>
            </a:pPr>
            <a:r>
              <a:rPr lang="en-US" sz="1000" dirty="0">
                <a:solidFill>
                  <a:srgbClr val="2E4053"/>
                </a:solidFill>
                <a:latin typeface="Arial" pitchFamily="34" charset="0"/>
                <a:ea typeface="Arial" pitchFamily="34" charset="-122"/>
                <a:cs typeface="Arial" pitchFamily="34" charset="-120"/>
              </a:rPr>
              <a:t>Self-serve reduces CAC, increases NPS, unlocks new markets. It requires architecture and org that can ship features weekly, not monthly. The work we're doing now (autonomous teams, data layer, breaking monolith) is the foundation.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CJ Strategic Update - Following Meeting Prep Structure</dc:title>
  <dc:subject>PptxGenJS Presentation</dc:subject>
  <dc:creator>Marten Engblom</dc:creator>
  <cp:lastModifiedBy>Marten Engblom</cp:lastModifiedBy>
  <cp:revision>1</cp:revision>
  <dcterms:created xsi:type="dcterms:W3CDTF">2026-05-07T17:23:08Z</dcterms:created>
  <dcterms:modified xsi:type="dcterms:W3CDTF">2026-05-07T17:23:08Z</dcterms:modified>
</cp:coreProperties>
</file>