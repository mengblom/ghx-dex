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5" r:id="rId10"/>
    <p:sldId id="264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9C12"/>
    <a:srgbClr val="E74C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499"/>
    <p:restoredTop sz="94610"/>
  </p:normalViewPr>
  <p:slideViewPr>
    <p:cSldViewPr snapToGrid="0" snapToObjects="1">
      <p:cViewPr varScale="1">
        <p:scale>
          <a:sx n="137" d="100"/>
          <a:sy n="137" d="100"/>
        </p:scale>
        <p:origin x="184" y="27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Stories Completed (Jan-Mar)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Stories Completed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207</c:v>
                </c:pt>
                <c:pt idx="1">
                  <c:v>271</c:v>
                </c:pt>
                <c:pt idx="2">
                  <c:v>386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BB-A744-9862-96E73E4B76C8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40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Stories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00000"/>
                </a:solidFill>
                <a:latin typeface="Arial"/>
              </a:rPr>
              <a:t>Lead Time &amp; Cycle Time Improvement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Lead Time (days)</c:v>
                </c:pt>
              </c:strCache>
            </c:strRef>
          </c:tx>
          <c:spPr>
            <a:ln w="38100" cap="flat">
              <a:solidFill>
                <a:srgbClr val="16A08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6A085"/>
              </a:solidFill>
              <a:ln w="9525" cap="flat">
                <a:solidFill>
                  <a:srgbClr val="16A085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30</c:v>
                </c:pt>
                <c:pt idx="1">
                  <c:v>33</c:v>
                </c:pt>
                <c:pt idx="2">
                  <c:v>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713E-DE44-AD13-CB10D328349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Cycle Time (days)</c:v>
                </c:pt>
              </c:strCache>
            </c:strRef>
          </c:tx>
          <c:spPr>
            <a:ln w="38100" cap="flat">
              <a:solidFill>
                <a:srgbClr val="E74C3C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74C3C"/>
              </a:solidFill>
              <a:ln w="9525" cap="flat">
                <a:solidFill>
                  <a:srgbClr val="E74C3C"/>
                </a:solidFill>
                <a:prstDash val="solid"/>
                <a:round/>
              </a:ln>
              <a:effectLst/>
            </c:spPr>
          </c:marker>
          <c:cat>
            <c:strRef>
              <c:f>Sheet1!$A$2:$A$4</c:f>
              <c:strCache>
                <c:ptCount val="3"/>
                <c:pt idx="0">
                  <c:v>January</c:v>
                </c:pt>
                <c:pt idx="1">
                  <c:v>February</c:v>
                </c:pt>
                <c:pt idx="2">
                  <c:v>March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44</c:v>
                </c:pt>
                <c:pt idx="1">
                  <c:v>44</c:v>
                </c:pt>
                <c:pt idx="2">
                  <c:v>23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713E-DE44-AD13-CB10D328349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Month</a:t>
                </a:r>
              </a:p>
            </c:rich>
          </c:tx>
          <c:overlay val="0"/>
        </c:title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50"/>
          <c:min val="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r>
                  <a:rPr lang="en-US" b="0" i="0" u="none" strike="noStrike">
                    <a:solidFill>
                      <a:srgbClr val="000000"/>
                    </a:solidFill>
                    <a:latin typeface="Arial"/>
                  </a:rPr>
                  <a:t>Days</a:t>
                </a:r>
              </a:p>
            </c:rich>
          </c:tx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537186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036709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-91440" y="1089124"/>
            <a:ext cx="932688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2000"/>
              </a:spcAft>
              <a:buNone/>
            </a:pPr>
            <a:r>
              <a:rPr lang="en-US" sz="4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Modernization Update</a:t>
            </a:r>
            <a:endParaRPr lang="en-US" sz="4800" dirty="0"/>
          </a:p>
        </p:txBody>
      </p:sp>
      <p:sp>
        <p:nvSpPr>
          <p:cNvPr id="3" name="Text 1"/>
          <p:cNvSpPr/>
          <p:nvPr/>
        </p:nvSpPr>
        <p:spPr>
          <a:xfrm>
            <a:off x="-91440" y="2752725"/>
            <a:ext cx="9326880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Aft>
                <a:spcPts val="4000"/>
              </a:spcAft>
              <a:buNone/>
            </a:pPr>
            <a:r>
              <a:rPr lang="en-US" sz="24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Progress, Resiliency &amp; Capacity Outlook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-91440" y="3613100"/>
            <a:ext cx="932688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spcBef>
                <a:spcPts val="1600"/>
              </a:spcBef>
              <a:spcAft>
                <a:spcPts val="1600"/>
              </a:spcAft>
              <a:buNone/>
            </a:pPr>
            <a:r>
              <a:rPr lang="en-US" sz="16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 2026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444401"/>
            <a:ext cx="0" cy="5238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444401"/>
            <a:ext cx="7934527" cy="523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Agenda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888950" y="128572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88950" y="194295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Productivity Commentary - How are things going?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88950" y="2514451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88950" y="3171676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- Progress on key initiatives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88950" y="3743176"/>
            <a:ext cx="7902041" cy="3524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400"/>
              </a:spcBef>
              <a:spcAft>
                <a:spcPts val="2400"/>
              </a:spcAft>
              <a:buNone/>
            </a:pPr>
            <a:r>
              <a:rPr lang="en-US" sz="2400" b="1" dirty="0">
                <a:solidFill>
                  <a:srgbClr val="16A08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400" dirty="0"/>
          </a:p>
        </p:txBody>
      </p:sp>
      <p:sp>
        <p:nvSpPr>
          <p:cNvPr id="9" name="Text 7"/>
          <p:cNvSpPr/>
          <p:nvPr/>
        </p:nvSpPr>
        <p:spPr>
          <a:xfrm>
            <a:off x="888950" y="4400401"/>
            <a:ext cx="7902041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800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Capacity Forecast - When do we shift to more commercial?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Productivity: Positive Trends</a:t>
            </a:r>
            <a:endParaRPr lang="en-US" sz="3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0795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5" name="Chart 1"/>
          <p:cNvGraphicFramePr/>
          <p:nvPr/>
        </p:nvGraphicFramePr>
        <p:xfrm>
          <a:off x="4762500" y="1101626"/>
          <a:ext cx="3873550" cy="3048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933450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933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Beyond the Metrics: Foundation Building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6293" y="1706342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Organizational Changes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766293" y="2138092"/>
            <a:ext cx="7620000" cy="59680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Implementing "Reverse Conway Maneuver" for autonomous teams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4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766293" y="2988794"/>
            <a:ext cx="77724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000"/>
              </a:spcBef>
              <a:spcAft>
                <a:spcPts val="1000"/>
              </a:spcAft>
              <a:buNone/>
            </a:pPr>
            <a:r>
              <a:rPr lang="en-US" sz="21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Talent Upgrade &amp; Hiring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66293" y="3420544"/>
            <a:ext cx="7620000" cy="1226046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Hands-on Engineering Leadership upgrade</a:t>
            </a: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1 Director → 4 Directors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500" dirty="0">
              <a:solidFill>
                <a:srgbClr val="34495E"/>
              </a:solidFill>
              <a:latin typeface="Arial" pitchFamily="34" charset="0"/>
              <a:cs typeface="Arial" pitchFamily="34" charset="-120"/>
            </a:endParaRPr>
          </a:p>
          <a:p>
            <a:pPr marL="647700" lvl="1" indent="-190500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3 EMs → 12 EMs</a:t>
            </a:r>
            <a:r>
              <a:rPr lang="en-US" sz="14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</a:t>
            </a: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(in progress)</a:t>
            </a:r>
            <a:endParaRPr lang="en-US" sz="1500" dirty="0"/>
          </a:p>
          <a:p>
            <a:pPr marL="190500" indent="-190500" algn="l">
              <a:lnSpc>
                <a:spcPts val="1950"/>
              </a:lnSpc>
              <a:spcAft>
                <a:spcPts val="800"/>
              </a:spcAft>
              <a:buSzPct val="100000"/>
              <a:buChar char="•"/>
            </a:pPr>
            <a:r>
              <a:rPr lang="en-US" sz="15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IC roles being filled to enable independent delivery (in progress)</a:t>
            </a:r>
            <a:endParaRPr lang="en-US" sz="15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Exchange Resiliency Update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97657417"/>
              </p:ext>
            </p:extLst>
          </p:nvPr>
        </p:nvGraphicFramePr>
        <p:xfrm>
          <a:off x="507950" y="1101626"/>
          <a:ext cx="7772400" cy="3301902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0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Priority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Status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14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C283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DB Migration to managed databases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Atlas Migration completion Aug 19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Disaster Recovery (4h RTO, 2h RPO)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Lower env test: RTO 7h, RPO 0:15h. Internal Oct, External Dec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All vulnerabilities within SLA / Eliminate EOL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Mixed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9C12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Red Mythos July 4 at risk, tracking end of July finish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Industry Continuity Solution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On Track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7AE6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Building GHXi FTE team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50317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Increase Modularity (Break the Monolith)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In Progress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A08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</a:rPr>
                        <a:t>"Good enough" stage by end of Q4</a:t>
                      </a:r>
                      <a:endParaRPr lang="en-US" sz="1200" dirty="0"/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Constraint: Breaking the Monolith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762000" y="1355527"/>
            <a:ext cx="7620000" cy="1346002"/>
          </a:xfrm>
          <a:prstGeom prst="roundRect">
            <a:avLst>
              <a:gd name="adj" fmla="val 3774"/>
            </a:avLst>
          </a:prstGeom>
          <a:solidFill>
            <a:srgbClr val="FFFFFF"/>
          </a:solidFill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Shape 3"/>
          <p:cNvSpPr/>
          <p:nvPr/>
        </p:nvSpPr>
        <p:spPr>
          <a:xfrm>
            <a:off x="800100" y="1355527"/>
            <a:ext cx="0" cy="1346002"/>
          </a:xfrm>
          <a:prstGeom prst="line">
            <a:avLst/>
          </a:prstGeom>
          <a:noFill/>
          <a:ln w="762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1155650" y="1672977"/>
            <a:ext cx="7047077" cy="71110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00"/>
              </a:lnSpc>
              <a:buNone/>
            </a:pPr>
            <a:r>
              <a:rPr lang="en-US" sz="20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Improvements will be incremental until we achieve Autonomous Teams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62000" y="3018979"/>
            <a:ext cx="77724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2500"/>
              </a:spcBef>
              <a:spcAft>
                <a:spcPts val="1500"/>
              </a:spcAft>
              <a:buNone/>
            </a:pPr>
            <a:r>
              <a:rPr lang="en-US" sz="22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does "Autonomous Teams" mean?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762000" y="3533329"/>
            <a:ext cx="7772400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24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rPr lang="en-US" sz="16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that can deploy independently, on demand, without coordinating with other teams - as long as no APIs, contracts, or data models are changed.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3714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3714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Autonomous Teams - Phase 1 Definition of Done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07950" y="752326"/>
            <a:ext cx="8290661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4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Target: End of Q4 2026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62000" y="1241227"/>
            <a:ext cx="7772400" cy="2571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Org Change </a:t>
            </a:r>
            <a:r>
              <a:rPr lang="en-US" sz="1600" b="1" dirty="0">
                <a:solidFill>
                  <a:srgbClr val="00B0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600" dirty="0">
              <a:solidFill>
                <a:srgbClr val="00B050"/>
              </a:solidFill>
            </a:endParaRPr>
          </a:p>
        </p:txBody>
      </p:sp>
      <p:sp>
        <p:nvSpPr>
          <p:cNvPr id="6" name="Text 4"/>
          <p:cNvSpPr/>
          <p:nvPr/>
        </p:nvSpPr>
        <p:spPr>
          <a:xfrm>
            <a:off x="762000" y="1574602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team topology aligned to future decoupled architecture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62000" y="1909762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1200"/>
              </a:spcBef>
              <a:spcAft>
                <a:spcPts val="600"/>
              </a:spcAft>
              <a:buNone/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Teams Correctly Staffed &amp; Skilled (In Progress)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62000" y="2224088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Engineering Manager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Dedicated Product Owner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roles filled</a:t>
            </a:r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cs typeface="Arial" pitchFamily="34" charset="-120"/>
              </a:rPr>
              <a:t>Cross-functional upskilling in addition to development (CI/CD, Infra, Security, QE)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762000" y="3212455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Clear Ownership (In Progress)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62000" y="3526780"/>
            <a:ext cx="7620000" cy="182761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100% clear what each team owns (mutually exclusive, collectively exhaustive)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62000" y="3861941"/>
            <a:ext cx="7772400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Independent Deployment (In Progress </a:t>
            </a:r>
            <a:r>
              <a:rPr lang="en-US" sz="1600" b="1" i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some teams</a:t>
            </a:r>
            <a:r>
              <a:rPr lang="en-US" sz="1600" b="1" dirty="0">
                <a:solidFill>
                  <a:srgbClr val="2C3E5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62000" y="4176266"/>
            <a:ext cx="7620000" cy="649784"/>
          </a:xfrm>
          <a:prstGeom prst="rect">
            <a:avLst/>
          </a:prstGeom>
          <a:noFill/>
          <a:ln/>
        </p:spPr>
        <p:txBody>
          <a:bodyPr wrap="square" lIns="190500" tIns="0" rIns="0" bIns="0" rtlCol="0" anchor="t"/>
          <a:lstStyle/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decoupled into standalone repos (or modular monolith)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own and operate deployment pipelines</a:t>
            </a:r>
            <a:endParaRPr lang="en-US" sz="1200" dirty="0"/>
          </a:p>
          <a:p>
            <a:pPr marL="190500" indent="-190500" algn="l">
              <a:lnSpc>
                <a:spcPts val="1440"/>
              </a:lnSpc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Minimal coordination required for local deployments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81000"/>
            <a:ext cx="0" cy="466725"/>
          </a:xfrm>
          <a:prstGeom prst="line">
            <a:avLst/>
          </a:prstGeom>
          <a:noFill/>
          <a:ln w="9525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81000"/>
            <a:ext cx="7934527" cy="4667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32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Work before Capacity Shift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34901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MUST DO </a:t>
            </a:r>
            <a:b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E74C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(Cannot shift capacity until done)</a:t>
            </a:r>
            <a:endParaRPr lang="en-US" sz="1700" dirty="0"/>
          </a:p>
        </p:txBody>
      </p:sp>
      <p:sp>
        <p:nvSpPr>
          <p:cNvPr id="5" name="Text 3"/>
          <p:cNvSpPr/>
          <p:nvPr/>
        </p:nvSpPr>
        <p:spPr>
          <a:xfrm>
            <a:off x="634901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P0 Data layer improvements: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34901" y="2035076"/>
            <a:ext cx="3746599" cy="1515368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Address stability &amp; scalability limitations</a:t>
            </a:r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to cloud-native, infinitely scalable storage (DynamoDB, S3) where appropriate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Redo data modelling according to read/write patterns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Thoughtful data retention policies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34901" y="3626644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Benefits: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634901" y="3855244"/>
            <a:ext cx="3746599" cy="795784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Stability / Scalability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Cost reduction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4762500" y="1101626"/>
            <a:ext cx="3821531" cy="514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Aft>
                <a:spcPts val="1500"/>
              </a:spcAft>
              <a:buNone/>
            </a:pP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REQUIRED BUT NEGOTIABLE</a:t>
            </a:r>
            <a:b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</a:br>
            <a:r>
              <a:rPr lang="en-US" sz="1700" b="1" dirty="0">
                <a:solidFill>
                  <a:srgbClr val="F39C1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(Timing flexible)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4762500" y="1806476"/>
            <a:ext cx="382153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Still urgent, but trade-offs possible: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62500" y="2035076"/>
            <a:ext cx="3746599" cy="1729829"/>
          </a:xfrm>
          <a:prstGeom prst="rect">
            <a:avLst/>
          </a:prstGeom>
          <a:noFill/>
          <a:ln/>
        </p:spPr>
        <p:txBody>
          <a:bodyPr wrap="square" lIns="158750" tIns="0" rIns="0" bIns="0" rtlCol="0" anchor="t"/>
          <a:lstStyle/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Event/Messaging system (replace Mongo-based Event Bus)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Infinitely scalable queue processors/event subscribers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Cloud-native infra (containers, managed services vs EC2)</a:t>
            </a:r>
            <a:endParaRPr lang="en-US" sz="1300" dirty="0"/>
          </a:p>
          <a:p>
            <a:pPr marL="158750" indent="-158750" algn="l">
              <a:lnSpc>
                <a:spcPts val="1690"/>
              </a:lnSpc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rgbClr val="34495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Enhanced observability &amp; instrumentation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762500" y="3841104"/>
            <a:ext cx="3821531" cy="8099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Notes: </a:t>
            </a:r>
          </a:p>
          <a:p>
            <a:pPr marL="171450" indent="-171450" algn="l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Veritas/Kickdrum will likely comment on these gaps</a:t>
            </a:r>
          </a:p>
          <a:p>
            <a:pPr marL="171450" indent="-171450">
              <a:spcBef>
                <a:spcPts val="500"/>
              </a:spcBef>
              <a:buFont typeface="Arial" panose="020B0604020202020204" pitchFamily="34" charset="0"/>
              <a:buChar char="•"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Still urgent, but timing and sequencing become a more “normal” discussion of tradeoffs between commercial / technical initiatives </a:t>
            </a:r>
            <a:b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</a:br>
            <a:r>
              <a:rPr lang="en-US" sz="1100" i="1" dirty="0">
                <a:solidFill>
                  <a:srgbClr val="7F8C8D"/>
                </a:solidFill>
                <a:latin typeface="Arial" pitchFamily="34" charset="0"/>
                <a:cs typeface="Arial" pitchFamily="34" charset="-120"/>
              </a:rPr>
              <a:t>(ROI vs. risk vs. scalability etc.)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4095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Capacity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MongoDB →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50275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14433" y="1371600"/>
            <a:ext cx="1093436" cy="274320"/>
          </a:xfrm>
          <a:prstGeom prst="rightArrow">
            <a:avLst>
              <a:gd name="adj1" fmla="val 50000"/>
              <a:gd name="adj2" fmla="val 398599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799" y="1828800"/>
            <a:ext cx="2171591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5149402" y="1828800"/>
            <a:ext cx="702757" cy="274320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Red Mythos (Vuln/EOL)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0995" y="2286000"/>
            <a:ext cx="453562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3674557" y="2286000"/>
            <a:ext cx="541127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 Teams / Break Monolith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3840480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P0 Database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72100" y="3200400"/>
            <a:ext cx="1697544" cy="2743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Other (Messaging, Cloud-Native Infra, …)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5852159" y="3657600"/>
            <a:ext cx="3291841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</a:rPr>
              <a:t>Capacity (Com/Tech)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</a:p>
        </p:txBody>
      </p:sp>
      <p:sp>
        <p:nvSpPr>
          <p:cNvPr id="36" name="Shape 34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70/30</a:t>
            </a:r>
            <a:endParaRPr lang="en-US" sz="11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1A21D68-1E28-8970-8086-407692073C31}"/>
              </a:ext>
            </a:extLst>
          </p:cNvPr>
          <p:cNvSpPr/>
          <p:nvPr/>
        </p:nvSpPr>
        <p:spPr>
          <a:xfrm>
            <a:off x="5852159" y="2743200"/>
            <a:ext cx="949379" cy="274320"/>
          </a:xfrm>
          <a:prstGeom prst="rightArrow">
            <a:avLst>
              <a:gd name="adj1" fmla="val 50000"/>
              <a:gd name="adj2" fmla="val 345157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6C1FE8-E924-46A6-2A7A-611D28A904B3}"/>
              </a:ext>
            </a:extLst>
          </p:cNvPr>
          <p:cNvCxnSpPr/>
          <p:nvPr/>
        </p:nvCxnSpPr>
        <p:spPr>
          <a:xfrm>
            <a:off x="297180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F8E6E6-0050-F39E-A8D3-F35DE5806EBB}"/>
              </a:ext>
            </a:extLst>
          </p:cNvPr>
          <p:cNvCxnSpPr/>
          <p:nvPr/>
        </p:nvCxnSpPr>
        <p:spPr>
          <a:xfrm>
            <a:off x="393192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3EBDE-8C09-CAB0-B96C-A98607ECE576}"/>
              </a:ext>
            </a:extLst>
          </p:cNvPr>
          <p:cNvCxnSpPr/>
          <p:nvPr/>
        </p:nvCxnSpPr>
        <p:spPr>
          <a:xfrm>
            <a:off x="489590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5C39F1-D51A-2EA1-0C1D-DCC8BD1BEB5C}"/>
              </a:ext>
            </a:extLst>
          </p:cNvPr>
          <p:cNvCxnSpPr/>
          <p:nvPr/>
        </p:nvCxnSpPr>
        <p:spPr>
          <a:xfrm>
            <a:off x="585602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7F7A09-6689-5228-7067-E9BF4C0150FE}"/>
              </a:ext>
            </a:extLst>
          </p:cNvPr>
          <p:cNvCxnSpPr/>
          <p:nvPr/>
        </p:nvCxnSpPr>
        <p:spPr>
          <a:xfrm>
            <a:off x="681700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F3465F-2779-9732-9E8C-7ADFAA3A3233}"/>
              </a:ext>
            </a:extLst>
          </p:cNvPr>
          <p:cNvCxnSpPr/>
          <p:nvPr/>
        </p:nvCxnSpPr>
        <p:spPr>
          <a:xfrm>
            <a:off x="777712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48E226-E4F6-8C86-4B59-21138631030C}"/>
              </a:ext>
            </a:extLst>
          </p:cNvPr>
          <p:cNvCxnSpPr/>
          <p:nvPr/>
        </p:nvCxnSpPr>
        <p:spPr>
          <a:xfrm>
            <a:off x="8726511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3" name="Shape 17">
            <a:extLst>
              <a:ext uri="{FF2B5EF4-FFF2-40B4-BE49-F238E27FC236}">
                <a16:creationId xmlns:a16="http://schemas.microsoft.com/office/drawing/2014/main" id="{382DD494-F9FD-4F75-53F0-22CD0DC15ACC}"/>
              </a:ext>
            </a:extLst>
          </p:cNvPr>
          <p:cNvSpPr/>
          <p:nvPr/>
        </p:nvSpPr>
        <p:spPr>
          <a:xfrm>
            <a:off x="7074367" y="32004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12C1C666-5835-0DBD-10B5-C90A9CD09FC1}"/>
              </a:ext>
            </a:extLst>
          </p:cNvPr>
          <p:cNvSpPr/>
          <p:nvPr/>
        </p:nvSpPr>
        <p:spPr>
          <a:xfrm>
            <a:off x="4551947" y="1448659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884B7B30-0751-5CA1-5DAE-FD34DBA8F8EF}"/>
              </a:ext>
            </a:extLst>
          </p:cNvPr>
          <p:cNvSpPr/>
          <p:nvPr/>
        </p:nvSpPr>
        <p:spPr>
          <a:xfrm>
            <a:off x="5796904" y="19080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F9C021EC-8E6A-8C9D-3356-330B031590FE}"/>
              </a:ext>
            </a:extLst>
          </p:cNvPr>
          <p:cNvSpPr/>
          <p:nvPr/>
        </p:nvSpPr>
        <p:spPr>
          <a:xfrm>
            <a:off x="4178459" y="2367352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7361C4E9-D803-07EA-3B42-983B370E7793}"/>
              </a:ext>
            </a:extLst>
          </p:cNvPr>
          <p:cNvSpPr/>
          <p:nvPr/>
        </p:nvSpPr>
        <p:spPr>
          <a:xfrm>
            <a:off x="6762819" y="282240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B321B91F-C6F1-6FA1-9E13-29B4A1F54AFD}"/>
              </a:ext>
            </a:extLst>
          </p:cNvPr>
          <p:cNvSpPr/>
          <p:nvPr/>
        </p:nvSpPr>
        <p:spPr>
          <a:xfrm>
            <a:off x="7715855" y="3286045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 3">
            <a:extLst>
              <a:ext uri="{FF2B5EF4-FFF2-40B4-BE49-F238E27FC236}">
                <a16:creationId xmlns:a16="http://schemas.microsoft.com/office/drawing/2014/main" id="{1972DF15-7E38-283D-533E-2FECB4179427}"/>
              </a:ext>
            </a:extLst>
          </p:cNvPr>
          <p:cNvSpPr/>
          <p:nvPr/>
        </p:nvSpPr>
        <p:spPr>
          <a:xfrm>
            <a:off x="6517259" y="154802"/>
            <a:ext cx="1394662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Confidence:</a:t>
            </a:r>
            <a:endParaRPr lang="en-US" sz="1100" dirty="0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DA538984-EA6A-5930-868D-CBC6FAF7A3ED}"/>
              </a:ext>
            </a:extLst>
          </p:cNvPr>
          <p:cNvSpPr/>
          <p:nvPr/>
        </p:nvSpPr>
        <p:spPr>
          <a:xfrm>
            <a:off x="7994899" y="186141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6">
                  <a:lumMod val="67000"/>
                </a:schemeClr>
              </a:gs>
              <a:gs pos="48000">
                <a:schemeClr val="accent6">
                  <a:lumMod val="97000"/>
                  <a:lumOff val="3000"/>
                </a:schemeClr>
              </a:gs>
              <a:gs pos="100000">
                <a:schemeClr val="accent6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0D779DC6-6DFB-CC25-4838-BDED9E78642B}"/>
              </a:ext>
            </a:extLst>
          </p:cNvPr>
          <p:cNvSpPr/>
          <p:nvPr/>
        </p:nvSpPr>
        <p:spPr>
          <a:xfrm>
            <a:off x="7990605" y="366446"/>
            <a:ext cx="119776" cy="120203"/>
          </a:xfrm>
          <a:prstGeom prst="ellipse">
            <a:avLst/>
          </a:prstGeom>
          <a:gradFill flip="none" rotWithShape="1">
            <a:gsLst>
              <a:gs pos="0">
                <a:schemeClr val="accent4">
                  <a:lumMod val="67000"/>
                </a:schemeClr>
              </a:gs>
              <a:gs pos="48000">
                <a:schemeClr val="accent4">
                  <a:lumMod val="97000"/>
                  <a:lumOff val="3000"/>
                </a:schemeClr>
              </a:gs>
              <a:gs pos="100000">
                <a:schemeClr val="accent4">
                  <a:lumMod val="60000"/>
                  <a:lumOff val="4000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 3">
            <a:extLst>
              <a:ext uri="{FF2B5EF4-FFF2-40B4-BE49-F238E27FC236}">
                <a16:creationId xmlns:a16="http://schemas.microsoft.com/office/drawing/2014/main" id="{4D259B32-3032-8972-4C41-A287BC81EF81}"/>
              </a:ext>
            </a:extLst>
          </p:cNvPr>
          <p:cNvSpPr/>
          <p:nvPr/>
        </p:nvSpPr>
        <p:spPr>
          <a:xfrm>
            <a:off x="8184333" y="160856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</a:t>
            </a:r>
            <a:endParaRPr lang="en-US" sz="1100" dirty="0"/>
          </a:p>
        </p:txBody>
      </p:sp>
      <p:sp>
        <p:nvSpPr>
          <p:cNvPr id="61" name="Text 3">
            <a:extLst>
              <a:ext uri="{FF2B5EF4-FFF2-40B4-BE49-F238E27FC236}">
                <a16:creationId xmlns:a16="http://schemas.microsoft.com/office/drawing/2014/main" id="{1592C4CB-CB4A-497F-9D56-320044403BC1}"/>
              </a:ext>
            </a:extLst>
          </p:cNvPr>
          <p:cNvSpPr/>
          <p:nvPr/>
        </p:nvSpPr>
        <p:spPr>
          <a:xfrm>
            <a:off x="8184333" y="341161"/>
            <a:ext cx="82229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spcBef>
                <a:spcPts val="500"/>
              </a:spcBef>
              <a:buNone/>
            </a:pPr>
            <a:r>
              <a:rPr lang="en-US" sz="1100" i="1" dirty="0">
                <a:solidFill>
                  <a:srgbClr val="7F8C8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Medium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54618330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 name="Slide 9">
    <p:bg>
      <p:bgPr>
        <a:solidFill>
          <a:srgbClr val="F8F9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5575" y="317450"/>
            <a:ext cx="0" cy="409575"/>
          </a:xfrm>
          <a:prstGeom prst="line">
            <a:avLst/>
          </a:prstGeom>
          <a:noFill/>
          <a:ln w="95250">
            <a:solidFill>
              <a:srgbClr val="16A08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57101" y="317450"/>
            <a:ext cx="7934527" cy="4095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sz="2800" b="1" dirty="0">
                <a:solidFill>
                  <a:srgbClr val="1C283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Timeline &amp; Capacity Evolution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20116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9718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2026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93192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2026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89204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Q4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585216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Q1 2027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681228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Q2 2027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7772400" y="822960"/>
            <a:ext cx="960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C3E50"/>
                </a:solidFill>
              </a:rPr>
              <a:t>Q3 2027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274320" y="1325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MongoDB → Atlas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011680" y="1371600"/>
            <a:ext cx="19202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931920" y="1371600"/>
            <a:ext cx="771884" cy="274320"/>
          </a:xfrm>
          <a:prstGeom prst="rightArrow">
            <a:avLst>
              <a:gd name="adj1" fmla="val 50000"/>
              <a:gd name="adj2" fmla="val 281381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4" name="Text 12"/>
          <p:cNvSpPr/>
          <p:nvPr/>
        </p:nvSpPr>
        <p:spPr>
          <a:xfrm>
            <a:off x="274320" y="17830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Disaster Recovery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2971800" y="1828800"/>
            <a:ext cx="1920240" cy="2743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4"/>
          <p:cNvSpPr/>
          <p:nvPr/>
        </p:nvSpPr>
        <p:spPr>
          <a:xfrm>
            <a:off x="4892040" y="1828800"/>
            <a:ext cx="960120" cy="274320"/>
          </a:xfrm>
          <a:prstGeom prst="rightArrow">
            <a:avLst>
              <a:gd name="adj1" fmla="val 50000"/>
              <a:gd name="adj2" fmla="val 350000"/>
            </a:avLst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274320" y="22402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Red Mythos (Vuln/EOL)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220994" y="2286000"/>
            <a:ext cx="998961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4219956" y="22860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274320" y="26974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Autonomous Teams / Break Monolith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2011680" y="2743200"/>
            <a:ext cx="3840480" cy="27432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274320" y="31546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P0 Database Improvements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5372100" y="3200400"/>
            <a:ext cx="2400300" cy="27432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274320" y="361188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2C3E50"/>
                </a:solidFill>
              </a:rPr>
              <a:t>Other (Messaging, Cloud-Native Infra)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7292340" y="3657600"/>
            <a:ext cx="1851660" cy="274320"/>
          </a:xfrm>
          <a:prstGeom prst="rect">
            <a:avLst/>
          </a:prstGeom>
          <a:solidFill>
            <a:srgbClr val="95A5A6"/>
          </a:solidFill>
          <a:ln w="12700">
            <a:solidFill>
              <a:srgbClr val="95A5A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74320" y="4297680"/>
            <a:ext cx="8595360" cy="18288"/>
          </a:xfrm>
          <a:prstGeom prst="rect">
            <a:avLst/>
          </a:prstGeom>
          <a:solidFill>
            <a:srgbClr val="CCCCC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274320" y="448056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2C3E50"/>
                </a:solidFill>
              </a:rPr>
              <a:t>Capacity (Com/Tech)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21076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30678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402793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solidFill>
            <a:srgbClr val="E74C3C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/>
          <p:nvPr/>
        </p:nvSpPr>
        <p:spPr>
          <a:xfrm>
            <a:off x="498805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25/75</a:t>
            </a:r>
          </a:p>
        </p:txBody>
      </p:sp>
      <p:sp>
        <p:nvSpPr>
          <p:cNvPr id="36" name="Shape 34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94817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solidFill>
            <a:srgbClr val="F39C12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690829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50/50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solidFill>
            <a:srgbClr val="27AE60"/>
          </a:solidFill>
          <a:ln w="12700">
            <a:solidFill>
              <a:srgbClr val="33333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/>
          <p:nvPr/>
        </p:nvSpPr>
        <p:spPr>
          <a:xfrm>
            <a:off x="7868412" y="4480560"/>
            <a:ext cx="768096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70/30</a:t>
            </a:r>
            <a:endParaRPr lang="en-US" sz="1100" dirty="0"/>
          </a:p>
        </p:txBody>
      </p:sp>
      <p:sp>
        <p:nvSpPr>
          <p:cNvPr id="42" name="Shape 17">
            <a:extLst>
              <a:ext uri="{FF2B5EF4-FFF2-40B4-BE49-F238E27FC236}">
                <a16:creationId xmlns:a16="http://schemas.microsoft.com/office/drawing/2014/main" id="{E1A21D68-1E28-8970-8086-407692073C31}"/>
              </a:ext>
            </a:extLst>
          </p:cNvPr>
          <p:cNvSpPr/>
          <p:nvPr/>
        </p:nvSpPr>
        <p:spPr>
          <a:xfrm>
            <a:off x="5852160" y="2743200"/>
            <a:ext cx="672084" cy="274320"/>
          </a:xfrm>
          <a:prstGeom prst="rightArrow">
            <a:avLst>
              <a:gd name="adj1" fmla="val 50000"/>
              <a:gd name="adj2" fmla="val 245000"/>
            </a:avLst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A86C1FE8-E924-46A6-2A7A-611D28A904B3}"/>
              </a:ext>
            </a:extLst>
          </p:cNvPr>
          <p:cNvCxnSpPr/>
          <p:nvPr/>
        </p:nvCxnSpPr>
        <p:spPr>
          <a:xfrm>
            <a:off x="297180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33F8E6E6-0050-F39E-A8D3-F35DE5806EBB}"/>
              </a:ext>
            </a:extLst>
          </p:cNvPr>
          <p:cNvCxnSpPr/>
          <p:nvPr/>
        </p:nvCxnSpPr>
        <p:spPr>
          <a:xfrm>
            <a:off x="3931920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6" name="Straight Connector 45">
            <a:extLst>
              <a:ext uri="{FF2B5EF4-FFF2-40B4-BE49-F238E27FC236}">
                <a16:creationId xmlns:a16="http://schemas.microsoft.com/office/drawing/2014/main" id="{7B83EBDE-8C09-CAB0-B96C-A98607ECE576}"/>
              </a:ext>
            </a:extLst>
          </p:cNvPr>
          <p:cNvCxnSpPr/>
          <p:nvPr/>
        </p:nvCxnSpPr>
        <p:spPr>
          <a:xfrm>
            <a:off x="489590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7" name="Straight Connector 46">
            <a:extLst>
              <a:ext uri="{FF2B5EF4-FFF2-40B4-BE49-F238E27FC236}">
                <a16:creationId xmlns:a16="http://schemas.microsoft.com/office/drawing/2014/main" id="{A15C39F1-D51A-2EA1-0C1D-DCC8BD1BEB5C}"/>
              </a:ext>
            </a:extLst>
          </p:cNvPr>
          <p:cNvCxnSpPr/>
          <p:nvPr/>
        </p:nvCxnSpPr>
        <p:spPr>
          <a:xfrm>
            <a:off x="5856024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A77F7A09-6689-5228-7067-E9BF4C0150FE}"/>
              </a:ext>
            </a:extLst>
          </p:cNvPr>
          <p:cNvCxnSpPr/>
          <p:nvPr/>
        </p:nvCxnSpPr>
        <p:spPr>
          <a:xfrm>
            <a:off x="681700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49" name="Straight Connector 48">
            <a:extLst>
              <a:ext uri="{FF2B5EF4-FFF2-40B4-BE49-F238E27FC236}">
                <a16:creationId xmlns:a16="http://schemas.microsoft.com/office/drawing/2014/main" id="{03F3465F-2779-9732-9E8C-7ADFAA3A3233}"/>
              </a:ext>
            </a:extLst>
          </p:cNvPr>
          <p:cNvCxnSpPr/>
          <p:nvPr/>
        </p:nvCxnSpPr>
        <p:spPr>
          <a:xfrm>
            <a:off x="7777123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7F48E226-E4F6-8C86-4B59-21138631030C}"/>
              </a:ext>
            </a:extLst>
          </p:cNvPr>
          <p:cNvCxnSpPr/>
          <p:nvPr/>
        </p:nvCxnSpPr>
        <p:spPr>
          <a:xfrm>
            <a:off x="8726511" y="768439"/>
            <a:ext cx="0" cy="4159876"/>
          </a:xfrm>
          <a:prstGeom prst="line">
            <a:avLst/>
          </a:prstGeom>
          <a:ln w="9525">
            <a:solidFill>
              <a:schemeClr val="bg1">
                <a:lumMod val="50000"/>
              </a:schemeClr>
            </a:solidFill>
            <a:prstDash val="dash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1228</TotalTime>
  <Words>667</Words>
  <Application>Microsoft Macintosh PowerPoint</Application>
  <PresentationFormat>On-screen Show (16:9)</PresentationFormat>
  <Paragraphs>140</Paragraphs>
  <Slides>10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2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Exchange Modernization Update - May 2026</dc:title>
  <dc:subject>PptxGenJS Presentation</dc:subject>
  <dc:creator>Marten Engblom</dc:creator>
  <cp:lastModifiedBy>Marten Engblom</cp:lastModifiedBy>
  <cp:revision>5</cp:revision>
  <dcterms:created xsi:type="dcterms:W3CDTF">2026-05-21T21:09:37Z</dcterms:created>
  <dcterms:modified xsi:type="dcterms:W3CDTF">2026-05-22T17:38:14Z</dcterms:modified>
</cp:coreProperties>
</file>