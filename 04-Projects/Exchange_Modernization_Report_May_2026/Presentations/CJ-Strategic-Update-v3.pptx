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Productivity Trends (Jan - Mar 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 Completed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271</c:v>
                </c:pt>
                <c:pt idx="2">
                  <c:v>386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Stories Completed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Q2 2026 (Baseline)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Q2 2026 (Baseline)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Technical Work (70%)</c:v>
                </c:pt>
                <c:pt idx="1">
                  <c:v>Commercial Roadmap (30%)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Q3 2026 (Transition)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2026 (Transition)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Technical Work (60%)</c:v>
                </c:pt>
                <c:pt idx="1">
                  <c:v>Commercial Roadmap (40%)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Q4 2026 (Stabilized)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Q4 2026 (Stabilized)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Technical Work (50%)</c:v>
                </c:pt>
                <c:pt idx="1">
                  <c:v>Commercial Roadmap (50%)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901" y="2116038"/>
            <a:ext cx="7112198" cy="1828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 / State of the Union on Productivity Improvements</a:t>
            </a:r>
            <a:endParaRPr lang="en-US" sz="18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on Exchange Resiliency Work</a:t>
            </a:r>
            <a:endParaRPr lang="en-US" sz="18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 Forecast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2540050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552277"/>
            <a:ext cx="20243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476" y="1888778"/>
            <a:ext cx="202431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improvement, structural ceiling remains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476" y="2381399"/>
            <a:ext cx="1984623" cy="14668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completed up 86% (207→386)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 down 48% (44→23 days)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are incremental until monolith + org structure changes complete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1901" y="1298377"/>
            <a:ext cx="2540198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2571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3427" y="1552277"/>
            <a:ext cx="20244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- "WHEN ARE WE DONE?"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03427" y="2098328"/>
            <a:ext cx="202446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Must-Do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03427" y="2395389"/>
            <a:ext cx="1984772" cy="12573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autonomous teams deploying independently (70% org work done)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modernization (MongoDB → purpose-built stores)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0" y="1298377"/>
            <a:ext cx="2540050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1981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7526" y="1552277"/>
            <a:ext cx="20243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FORECAST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7526" y="1888778"/>
            <a:ext cx="202431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reactive to strategic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7526" y="2381399"/>
            <a:ext cx="1984623" cy="838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60% firefighting / 40% strategic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30% firefighting / 70% strategic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- The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4-Month Trends (Jan → Mar)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27002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Completed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942802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→ 271 → 386 (+86%)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371427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to Change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587228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→ 33 → 8 days (-73%)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015853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231654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→ 44 → 23 days (-48%)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723680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4022080"/>
            <a:ext cx="4063901" cy="6286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 releases clean (no major incidents)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library launched (Claude Code adoption growing)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Health Score beta (leading indicator dashboard)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3204" y="2963763"/>
            <a:ext cx="1788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Productivity Trends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825752" y="1298377"/>
          <a:ext cx="3848398" cy="350222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-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&amp; ORGANIZATIONAL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96777"/>
            <a:ext cx="3937099" cy="85308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 (testing/risk/blast radius bottleneck)</a:t>
            </a:r>
            <a:endParaRPr lang="en-US" sz="1050" dirty="0"/>
          </a:p>
          <a:p>
            <a:pPr algn="l" marL="127000" indent="-1270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 was also "monolithic" (1 director, 80 people) — we're solving this</a:t>
            </a:r>
            <a:endParaRPr lang="en-US" sz="1050" dirty="0"/>
          </a:p>
          <a:p>
            <a:pPr algn="l" marL="127000" indent="-1270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debt (fear of releasing, "everything is a project")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98950" y="1234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VISIBILITY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98950" y="1596777"/>
            <a:ext cx="3937099" cy="149289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Visibility/reporting problem (roadmaps at epic level, always a new data request)</a:t>
            </a:r>
            <a:endParaRPr lang="en-US" sz="1050" dirty="0"/>
          </a:p>
          <a:p>
            <a:pPr algn="l" marL="127000" indent="-1270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priorities, "show your progress" asks</a:t>
            </a:r>
            <a:endParaRPr lang="en-US" sz="1050" dirty="0"/>
          </a:p>
          <a:p>
            <a:pPr algn="l" marL="127000" indent="-1270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Product-Engineering engagement (best practice: 1-1 PO to EM, we don't have that)</a:t>
            </a:r>
            <a:endParaRPr lang="en-US" sz="1050" dirty="0"/>
          </a:p>
          <a:p>
            <a:pPr algn="l" marL="127000" indent="-1270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opportunity cost at leadership level (hands-on leadership required through change)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- In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901" y="1654671"/>
            <a:ext cx="7112198" cy="275153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54001" y="1654671"/>
            <a:ext cx="0" cy="2751534"/>
          </a:xfrm>
          <a:prstGeom prst="line">
            <a:avLst/>
          </a:prstGeom>
          <a:noFill/>
          <a:ln w="76200">
            <a:solidFill>
              <a:srgbClr val="1C28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3101" y="2035671"/>
            <a:ext cx="63994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making incremental productivity improvements.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73101" y="2816721"/>
            <a:ext cx="6399478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long as we operate in a monolithic codebase, deployment footprint, and team structure, improvements will be incremental rather than transformational.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73101" y="3497163"/>
            <a:ext cx="6399478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 transformation (1 director → 4 directors, 12 EMs) is the foundation for exponential gains.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Resiliency Priorities - Scorecard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82020" y="2963763"/>
            <a:ext cx="16502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Resiliency Status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298377"/>
          <a:ext cx="8166199" cy="3502223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114800"/>
              </a:tblGrid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DB Migration to Managed Databases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Atlas Migration completion Aug 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DR Test (RTO/RPO)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Lower environment test: RTO 4:45, RPO 0:15. Internal target October, External comms December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 Mythos/Vulnerabilities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Complex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Monolith dependencies - targeting July 2 completion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EOL Technologies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Complex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Atlas, Elasticsearch, Java upgrades, OSS upgrades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ICS (Industry Continuity)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Building FTE team to own this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Breaking the Monolith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In progress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The big one (next slides)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2261" y="2405807"/>
            <a:ext cx="63994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Building Autonomous Teams Deck (Slide 4)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2261" y="2863007"/>
            <a:ext cx="6399478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showing the vicious cycle: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codebase → High risk → Defensive testing → Slow releases → Batching → Larger changes → Higher risk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the Monolith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FOR PRODUCT &amp; CUSTOMERS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561802"/>
            <a:ext cx="3937099" cy="12001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throttled (everything is a "project")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deployment frequency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lead time for changes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respond quickly to customer needs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incident remediation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security fixes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98950" y="12348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FOR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950" y="1561802"/>
            <a:ext cx="3937099" cy="100012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that should be easy are now high risk and difficult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of impact / side effects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overhead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autonomy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prioritize and manage mixed work streams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 vs. Services Owned by Autonomous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33631" y="2610594"/>
            <a:ext cx="60765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Building Autonomous Teams Deck (Slide 9)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631" y="3067794"/>
            <a:ext cx="6076590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comparing: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Monolith (one big deployment) vs. Services (independent deployments)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the target state with clear ownership and independent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Autonomous Teams Mean?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47625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team structure, process, AND architectural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7110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 &amp; Process: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038052"/>
            <a:ext cx="8128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EM and Product Owner (1:1 ratio)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engineers (cross-functional: backend, frontend, QA, DevOps)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independently (dedicated Jira project, backlog)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"Team API" (Slack channels per convention, clear interfaces)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3041303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3368278"/>
            <a:ext cx="8128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and deploy their component independently (no monolith coordination)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their application-near infrastructure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their deployment pipelines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not monolith modules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7950" y="4371529"/>
            <a:ext cx="8128099" cy="4572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1763" y="4371529"/>
            <a:ext cx="0" cy="457200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7975" y="4523929"/>
            <a:ext cx="7931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it ties back to "Increase Modularity" priority (breaking the monolith)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Are We Out of the Woods?"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504825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Haves (We won't be stable without these)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739652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12 Autonomous Teams Operating Independently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968252"/>
            <a:ext cx="8128099" cy="844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EM, PO (1:1 ratio)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and deploy components independently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application-near infrastructure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deployment pipelines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independently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2863602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Progress: 70% (org structure in place, technical decoupling starting)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7950" y="321602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Stored in Purpose-Built Products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444627"/>
            <a:ext cx="8128099" cy="67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→ RDS, DynamoDB, Aurora, S3 (right tool for job)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becomes elastic (not manual intervention)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HA/DR becomes config setting (not a project)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 unlocked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7950" y="417105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Progress: 20% (Atlas migrations in progress, architectural changes in planning)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Still Have a Backlog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4572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required, but timing negotiable. Veritas/Kickdrum will likely comment.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6920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019002"/>
            <a:ext cx="3937099" cy="140017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Event/messaging system replacement (EventBus MongoDB → SQS/Kafka)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Flow optimization (S3-based storage vs 188M docs/day churn)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improvements (extend log retention, proactive alerting)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health checks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98950" y="16920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DELIVERY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2019002"/>
            <a:ext cx="393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framework modernization (replace Tandoori)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system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tool modernization (EDI → JSON)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infra (serverless, managed services)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Evolution (Q2 → Q3 → Q4)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4572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Autonomous teams reduce KTO burden, unlock roadmap capacity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18471" y="3192363"/>
            <a:ext cx="1779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Capacity Allocation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7950" y="1966347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3068270" y="1966347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5628590" y="1966347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 Strategic Update - Concise Version</dc:title>
  <dc:subject>PptxGenJS Presentation</dc:subject>
  <dc:creator>Marten Engblom</dc:creator>
  <cp:lastModifiedBy>Marten Engblom</cp:lastModifiedBy>
  <cp:revision>1</cp:revision>
  <dcterms:created xsi:type="dcterms:W3CDTF">2026-05-07T17:52:09Z</dcterms:created>
  <dcterms:modified xsi:type="dcterms:W3CDTF">2026-05-07T17:52:09Z</dcterms:modified>
</cp:coreProperties>
</file>