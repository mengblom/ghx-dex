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2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Productivity Trends (Jan - Mar 2026)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8-FE40-8372-A8D817088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Stories Completed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Q2 2026 (Baseline)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Q2 2026 (Baseline)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AE2-CD49-9292-E88BE0BBC175}"/>
              </c:ext>
            </c:extLst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E2-CD49-9292-E88BE0BBC17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2-CD49-9292-E88BE0BBC17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2-CD49-9292-E88BE0BBC1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Technical Work (70%)</c:v>
                </c:pt>
                <c:pt idx="1">
                  <c:v>Commercial Roadmap (30%)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E2-CD49-9292-E88BE0BBC1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52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2540050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9476" y="1552277"/>
            <a:ext cx="2024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476" y="1888778"/>
            <a:ext cx="20243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improvement, structural ceiling remains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476" y="2381399"/>
            <a:ext cx="1984623" cy="14668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completed up 86% (207→386)</a:t>
            </a:r>
            <a:endParaRPr lang="en-US" sz="1100" dirty="0"/>
          </a:p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down 48% (44→23 days)</a:t>
            </a:r>
            <a:endParaRPr lang="en-US" sz="1100" dirty="0"/>
          </a:p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are incremental until monolith + org structure changes complete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1901" y="1298377"/>
            <a:ext cx="2540198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571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3427" y="1552277"/>
            <a:ext cx="20244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- "WHEN ARE WE DONE?"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03427" y="2098328"/>
            <a:ext cx="202446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Must-Do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03427" y="2395389"/>
            <a:ext cx="1984772" cy="12573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autonomous teams deploying independently (70% org work done)</a:t>
            </a:r>
            <a:endParaRPr lang="en-US" sz="1100" dirty="0"/>
          </a:p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modernization (MongoDB → purpose-built stores)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0" y="1298377"/>
            <a:ext cx="2540050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1981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97526" y="1552277"/>
            <a:ext cx="2024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7526" y="1888778"/>
            <a:ext cx="20243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reactive to strategic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7526" y="2381399"/>
            <a:ext cx="1984623" cy="838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60% firefighting / 40% strategic</a:t>
            </a:r>
            <a:endParaRPr lang="en-US" sz="1100" dirty="0"/>
          </a:p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30% firefighting / 70% strategic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The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4-Month Trends (Jan → Mar)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27002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942802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→ 271 → 386 (+86%)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371427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to Change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587228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→ 33 → 8 days (-73%)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015853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231654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→ 44 → 23 days (-48%)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723680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4022080"/>
            <a:ext cx="4063901" cy="6286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 releases clean (no major incidents)</a:t>
            </a:r>
            <a:endParaRPr lang="en-US" sz="1100" dirty="0"/>
          </a:p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library launched (Claude Code adoption growing)</a:t>
            </a:r>
            <a:endParaRPr lang="en-US" sz="1100" dirty="0"/>
          </a:p>
          <a:p>
            <a:pPr marL="127000" indent="-1270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Health Score beta (leading indicator dashboard)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3204" y="2963763"/>
            <a:ext cx="1788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Productivity Trends</a:t>
            </a:r>
            <a:endParaRPr lang="en-US" sz="12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825752" y="1298377"/>
          <a:ext cx="3848398" cy="3502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Context &amp; Ceiling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WORKING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96777"/>
            <a:ext cx="3937099" cy="14062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transformation 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1 director, 3 managers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4 directors, 12 managers (hands-on, player-coach)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SDLC (Aaron hired, tooling deployed)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shifts (teams requesting testing ownership, incremental delivery)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stability (hands-on through transformation)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1851" y="1847552"/>
            <a:ext cx="3683198" cy="3554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1 director, 3 managers</a:t>
            </a:r>
            <a:endParaRPr lang="en-US" sz="1000" dirty="0"/>
          </a:p>
          <a:p>
            <a:pPr marL="127000" indent="-1270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4 directors, 12 managers (hands-on, player-coach)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LIMITING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8950" y="1596777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(testing/risk/blast radius bottleneck)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org structure (just started transitioning)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debt (fear of releasing, "everything is a project")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priorities (roadmap vs. resiliency vs. tech debt)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950" y="3689449"/>
            <a:ext cx="8128099" cy="10730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3689449"/>
            <a:ext cx="0" cy="1073051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6075" y="3879949"/>
            <a:ext cx="78534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6075" y="4152900"/>
            <a:ext cx="78534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improvements until structural changes complete. We're making progress, but fighting the structure of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Resiliency Priorities - Scorecard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252621"/>
              </p:ext>
            </p:extLst>
          </p:nvPr>
        </p:nvGraphicFramePr>
        <p:xfrm>
          <a:off x="685800" y="1171278"/>
          <a:ext cx="7772400" cy="350222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Atlas Migration completion Aug 29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DR Test (RTO/RPO)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Lower environment test: RTO 4:45, RPO: 0:15, Internal target October, External comms December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 Mythos/Vulnerabilities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Complex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Monolith dependencies - still targeting Q2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EOL Technologies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Complex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Atlas, Elasticsearch, Java upgrades, OSS upgrades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ICS (Industry Continuity)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Building FTE team to own this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3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Breaking the Monolith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In progress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The big one (next slides)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5810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078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IS BOTH TECHNICAL AND ORGANIZATIONAL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15852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142827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14-year-old codebase, 80+ engineers, monthly releases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deployment footprint (Blue-Green in us-east-1)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database schemas = blast radius on every change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bottleneck = defensive, slow releases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8950" y="1815852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Reality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2142827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director for 80 people = impossible span of control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needs cross-team coordination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culture ("what if we break something?")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launches = big-bang, not incremental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the Monolith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PRODUCT &amp; CUSTOMERS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561802"/>
            <a:ext cx="3937099" cy="12001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throttled (everything is a "project")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deployment frequency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lead time for changes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respond quickly to customer needs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incident remediation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security fixes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98950" y="12348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950" y="1561802"/>
            <a:ext cx="3937099" cy="10001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should be easy are now high risk and difficult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of impact / side effects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overhead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autonomy</a:t>
            </a:r>
            <a:endParaRPr lang="en-US" sz="1050" dirty="0"/>
          </a:p>
          <a:p>
            <a:pPr marL="127000" indent="-127000" algn="l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prioritize and manage mixed work streams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Endgame - Completion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5143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ARE WE DONE? Two completion criteria: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622227"/>
            <a:ext cx="43071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HAVES (WE WON'T BE STABLE WITHOUT THESE)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149227"/>
            <a:ext cx="4307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12 Autonomous Teams Operating Independently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365028"/>
            <a:ext cx="4222700" cy="6167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their domain/component</a:t>
            </a:r>
            <a:endParaRPr lang="en-US" sz="900" dirty="0"/>
          </a:p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independently (no monolith coordination)</a:t>
            </a:r>
            <a:endParaRPr lang="en-US" sz="900" dirty="0"/>
          </a:p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application-near infrastructure</a:t>
            </a:r>
            <a:endParaRPr lang="en-US" sz="900" dirty="0"/>
          </a:p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independently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3032522"/>
            <a:ext cx="43071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Progress: 70% (org structure in place, technical decoupling starting)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3324523"/>
            <a:ext cx="4307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Stored in Purpose-Built Products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950" y="3540323"/>
            <a:ext cx="4222700" cy="6167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→ RDS, DynamoDB, Aurora (right tool for job)</a:t>
            </a:r>
            <a:endParaRPr lang="en-US" sz="900" dirty="0"/>
          </a:p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becomes elastic (not manual intervention)</a:t>
            </a:r>
            <a:endParaRPr lang="en-US" sz="900" dirty="0"/>
          </a:p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HA/DR becomes config setting (not a project)</a:t>
            </a:r>
            <a:endParaRPr lang="en-US" sz="900" dirty="0"/>
          </a:p>
          <a:p>
            <a:pPr marL="114300" indent="-114300" algn="l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unlocked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4207818"/>
            <a:ext cx="43071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Progress: 20% (Atlas migrations in progress, architectural changes in planning)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9251" y="1622227"/>
            <a:ext cx="3676799" cy="330130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83063" y="1622227"/>
            <a:ext cx="0" cy="3301305"/>
          </a:xfrm>
          <a:prstGeom prst="line">
            <a:avLst/>
          </a:prstGeom>
          <a:noFill/>
          <a:ln w="47625">
            <a:solidFill>
              <a:srgbClr val="AAB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97376" y="1812727"/>
            <a:ext cx="33131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7376" y="2085677"/>
            <a:ext cx="3313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(Will improve things, but not blocking stability)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97376" y="2276177"/>
            <a:ext cx="33131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Data: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97376" y="2472928"/>
            <a:ext cx="3248174" cy="9813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replacement (EventBus MongoDB → SQS/Kafka with SDK)</a:t>
            </a:r>
            <a:endParaRPr lang="en-US" sz="850" dirty="0"/>
          </a:p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Flow optimization (S3-based storage vs 188M docs/day churn)</a:t>
            </a:r>
            <a:endParaRPr lang="en-US" sz="850" dirty="0"/>
          </a:p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extend log retention (7 days → longer), proactive alerting</a:t>
            </a:r>
            <a:endParaRPr lang="en-US" sz="850" dirty="0"/>
          </a:p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health checks and monitoring improvements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97376" y="3530501"/>
            <a:ext cx="33131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Delivery: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97376" y="3727252"/>
            <a:ext cx="3248174" cy="7009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framework modernization (replace Tandoori)</a:t>
            </a:r>
            <a:endParaRPr lang="en-US" sz="850" dirty="0"/>
          </a:p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system</a:t>
            </a:r>
            <a:endParaRPr lang="en-US" sz="850" dirty="0"/>
          </a:p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tool modernization (EDI → JSON, evaluate IBM Sterling/Edifecs)</a:t>
            </a:r>
            <a:endParaRPr lang="en-US" sz="850" dirty="0"/>
          </a:p>
          <a:p>
            <a:pPr marL="114300" indent="-114300" algn="l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tooling (GitHub Actions, containerization)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97376" y="4504432"/>
            <a:ext cx="33131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Gen3 scope or continuous improvement. Not blocking "out of the woods."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- What's Happening Right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580852"/>
            <a:ext cx="3987850" cy="154632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580852"/>
            <a:ext cx="0" cy="1546324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6075" y="1771352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6075" y="2044303"/>
            <a:ext cx="3559225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director/3 EMs → 4 directors/12 EMs (for ~80 engineers)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defining: domain, coupling points, deployment blockers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moving to GitHub repos (out of monorepo)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48200" y="1580852"/>
            <a:ext cx="3987850" cy="154632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2013" y="1580852"/>
            <a:ext cx="0" cy="1546324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86325" y="1771352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86325" y="2044303"/>
            <a:ext cx="3559225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for breaking pieces off monolith (repo, CI/CD, infra)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SDLC (Dedicated team for this, Aaron hired, teams adopting)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backlog discussions (debt visibility)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7950" y="3279577"/>
            <a:ext cx="3987850" cy="154647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279577"/>
            <a:ext cx="0" cy="154647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6075" y="3470077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6075" y="3743027"/>
            <a:ext cx="3559225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requesting testing ownership (huge shift)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delivery wins (MEX Core UI Migrations, EMS Managed Services Portal)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breaking off components proactively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48200" y="3279577"/>
            <a:ext cx="3987850" cy="154647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2013" y="3279577"/>
            <a:ext cx="0" cy="154647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86325" y="3470077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6325" y="3743027"/>
            <a:ext cx="3559225" cy="50676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directors (3 hired, 1 in final rounds)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EMs (8 hired, 4 in process)</a:t>
            </a:r>
            <a:endParaRPr lang="en-US" sz="950" dirty="0"/>
          </a:p>
          <a:p>
            <a:pPr marL="114300" indent="-114300" algn="l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Key Roles (AI Director, senior ICs)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Evolution (Q2 → Q3 → Q4)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4572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Autonomous teams reduce KTO burden, unlock roadmap capacity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18471" y="3192363"/>
            <a:ext cx="1779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Capacity Allocation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7950" y="1966347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Chart - The New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555950" cy="182493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34827"/>
            <a:ext cx="0" cy="1824930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9476" y="1488728"/>
            <a:ext cx="30605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9476" y="1815703"/>
            <a:ext cx="30605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Director → 3 EMs → 80 engineers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476" y="2126754"/>
            <a:ext cx="3060534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476" y="2532906"/>
            <a:ext cx="30605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Directors → 12 EMs → ~80 engineers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250257"/>
            <a:ext cx="36270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3548658"/>
            <a:ext cx="3555950" cy="9517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engineers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(backend, frontend, QA, DevOps)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Domain-aligned (Platform Services, Business Logic, Data/Integration, etc.)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delivery capability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34075" y="2963763"/>
            <a:ext cx="11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Chart Visual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1060</Words>
  <Application>Microsoft Macintosh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 Strategic Update - Resiliency &amp; Capacity Planning</dc:title>
  <dc:subject>PptxGenJS Presentation</dc:subject>
  <dc:creator>Marten Engblom</dc:creator>
  <cp:lastModifiedBy>Marten Engblom</cp:lastModifiedBy>
  <cp:revision>2</cp:revision>
  <dcterms:created xsi:type="dcterms:W3CDTF">2026-05-07T15:58:21Z</dcterms:created>
  <dcterms:modified xsi:type="dcterms:W3CDTF">2026-05-08T12:05:59Z</dcterms:modified>
</cp:coreProperties>
</file>