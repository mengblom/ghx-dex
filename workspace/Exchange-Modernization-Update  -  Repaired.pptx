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C12"/>
    <a:srgbClr val="E74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98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8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Stories Completed (Jan-Mar)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Stories Completed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207</c:v>
                </c:pt>
                <c:pt idx="1">
                  <c:v>271</c:v>
                </c:pt>
                <c:pt idx="2">
                  <c:v>386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BB-A744-9862-96E73E4B76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Month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Stories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Lead Time &amp; Cycle Time Improvement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 Time (days)</c:v>
                </c:pt>
              </c:strCache>
            </c:strRef>
          </c:tx>
          <c:spPr>
            <a:ln w="38100" cap="flat">
              <a:solidFill>
                <a:srgbClr val="16A08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6A085"/>
              </a:solidFill>
              <a:ln w="9525" cap="flat">
                <a:solidFill>
                  <a:srgbClr val="16A085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33</c:v>
                </c:pt>
                <c:pt idx="2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3E-DE44-AD13-CB10D32834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Cycle Time (days)</c:v>
                </c:pt>
              </c:strCache>
            </c:strRef>
          </c:tx>
          <c:spPr>
            <a:ln w="38100" cap="flat">
              <a:solidFill>
                <a:srgbClr val="E74C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44</c:v>
                </c:pt>
                <c:pt idx="1">
                  <c:v>44</c:v>
                </c:pt>
                <c:pt idx="2">
                  <c:v>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3E-DE44-AD13-CB10D32834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Month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Days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3718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670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" y="1089124"/>
            <a:ext cx="932688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Modernization Update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-91440" y="2752725"/>
            <a:ext cx="932688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Progress, Resiliency &amp; Capacity Outlook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-91440" y="3613100"/>
            <a:ext cx="93268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444401"/>
            <a:ext cx="0" cy="523875"/>
          </a:xfrm>
          <a:prstGeom prst="line">
            <a:avLst/>
          </a:prstGeom>
          <a:noFill/>
          <a:ln w="952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444401"/>
            <a:ext cx="793452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88950" y="1285726"/>
            <a:ext cx="790204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88950" y="1942951"/>
            <a:ext cx="79020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Productivity Commentary - How are things going?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88950" y="2514451"/>
            <a:ext cx="790204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88950" y="3171676"/>
            <a:ext cx="79020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Resiliency - Progress on key initiatives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8950" y="3743176"/>
            <a:ext cx="790204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88950" y="4400401"/>
            <a:ext cx="79020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Forecast - When do we shift to more commercial?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81000"/>
            <a:ext cx="0" cy="466725"/>
          </a:xfrm>
          <a:prstGeom prst="line">
            <a:avLst/>
          </a:prstGeom>
          <a:noFill/>
          <a:ln w="952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81000"/>
            <a:ext cx="793452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Productivity: Positive Trends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7950" y="1101626"/>
          <a:ext cx="387355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62500" y="1101626"/>
          <a:ext cx="387355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81000"/>
            <a:ext cx="0" cy="933450"/>
          </a:xfrm>
          <a:prstGeom prst="line">
            <a:avLst/>
          </a:prstGeom>
          <a:noFill/>
          <a:ln w="952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81000"/>
            <a:ext cx="7934527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Metrics: Foundation Building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6293" y="1706342"/>
            <a:ext cx="777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0"/>
              </a:spcBef>
              <a:spcAft>
                <a:spcPts val="1000"/>
              </a:spcAft>
              <a:buNone/>
            </a:pPr>
            <a:r>
              <a:rPr lang="en-US" sz="2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 Changes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66293" y="2138092"/>
            <a:ext cx="7620000" cy="59680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team topology aligned to future decoupled architecture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  <a:p>
            <a:pPr marL="190500" indent="-19050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"Reverse Conway Maneuver" for autonomous teams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6293" y="2988794"/>
            <a:ext cx="777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0"/>
              </a:spcBef>
              <a:spcAft>
                <a:spcPts val="1000"/>
              </a:spcAft>
              <a:buNone/>
            </a:pPr>
            <a:r>
              <a:rPr lang="en-US" sz="2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Upgrade &amp; Hiring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66293" y="3420544"/>
            <a:ext cx="7620000" cy="1226046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Engineering Leadership upgrade</a:t>
            </a:r>
          </a:p>
          <a:p>
            <a:pPr marL="647700" lvl="1" indent="-19050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cs typeface="Arial" pitchFamily="34" charset="-120"/>
              </a:rPr>
              <a:t>1 Director → 4 Directors</a:t>
            </a: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>
              <a:solidFill>
                <a:srgbClr val="34495E"/>
              </a:solidFill>
              <a:latin typeface="Arial" pitchFamily="34" charset="0"/>
              <a:cs typeface="Arial" pitchFamily="34" charset="-120"/>
            </a:endParaRPr>
          </a:p>
          <a:p>
            <a:pPr marL="647700" lvl="1" indent="-19050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cs typeface="Arial" pitchFamily="34" charset="-120"/>
              </a:rPr>
              <a:t>3 EMs → 12 EMs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 progress)</a:t>
            </a:r>
            <a:endParaRPr lang="en-US" sz="1500" dirty="0"/>
          </a:p>
          <a:p>
            <a:pPr marL="190500" indent="-190500" algn="l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IC roles being filled to enable independent delivery (in progress)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81000"/>
            <a:ext cx="0" cy="466725"/>
          </a:xfrm>
          <a:prstGeom prst="line">
            <a:avLst/>
          </a:prstGeom>
          <a:noFill/>
          <a:ln w="952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81000"/>
            <a:ext cx="793452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Resiliency Update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657417"/>
              </p:ext>
            </p:extLst>
          </p:nvPr>
        </p:nvGraphicFramePr>
        <p:xfrm>
          <a:off x="507950" y="1101626"/>
          <a:ext cx="7772400" cy="3301902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0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DB Migration to managed databases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On Track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Atlas Migration completion Aug 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Disaster Recovery (4h RTO, 2h RPO)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On Track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Lower env test: RTO 7h, RPO 0:15h. Internal Oct, External Dec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All vulnerabilities within SLA / Eliminate EOL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Mixed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Red Mythos July 4 at risk, tracking end of July finish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Industry Continuity Solution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On Track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Building GHXi FTE team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Increase Modularity (Break the Monolith)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 Progress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"Good enough" stage by end of Q4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81000"/>
            <a:ext cx="0" cy="466725"/>
          </a:xfrm>
          <a:prstGeom prst="line">
            <a:avLst/>
          </a:prstGeom>
          <a:noFill/>
          <a:ln w="952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81000"/>
            <a:ext cx="793452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Constraint: Breaking the Monolith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355527"/>
            <a:ext cx="7620000" cy="1346002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00100" y="1355527"/>
            <a:ext cx="0" cy="1346002"/>
          </a:xfrm>
          <a:prstGeom prst="line">
            <a:avLst/>
          </a:prstGeom>
          <a:noFill/>
          <a:ln w="762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55650" y="1672977"/>
            <a:ext cx="7047077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Improvements will be incremental until we achieve Autonomous Teams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3018979"/>
            <a:ext cx="7772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500"/>
              </a:spcBef>
              <a:spcAft>
                <a:spcPts val="1500"/>
              </a:spcAft>
              <a:buNone/>
            </a:pPr>
            <a:r>
              <a:rPr lang="en-US" sz="2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"Autonomous Teams" mean?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2000" y="3533329"/>
            <a:ext cx="7772400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6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that can deploy independently, on demand, without coordinating with other teams - as long as no APIs, contracts, or data models are changed.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17450"/>
            <a:ext cx="0" cy="371475"/>
          </a:xfrm>
          <a:prstGeom prst="line">
            <a:avLst/>
          </a:prstGeom>
          <a:noFill/>
          <a:ln w="952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17450"/>
            <a:ext cx="793452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Teams - Phase 1 Definition of Done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752326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End of Q4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2000" y="1241227"/>
            <a:ext cx="77724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Org Change </a:t>
            </a:r>
            <a:r>
              <a:rPr lang="en-US" sz="1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1574602"/>
            <a:ext cx="7620000" cy="18276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team topology aligned to future decoupled architecture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1909762"/>
            <a:ext cx="777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Teams Correctly Staffed &amp; Skilled (In Progress)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224088"/>
            <a:ext cx="7620000" cy="649784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Engineering Manager</a:t>
            </a:r>
            <a:endParaRPr lang="en-US" sz="1200" dirty="0"/>
          </a:p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Product Owner</a:t>
            </a:r>
            <a:endParaRPr lang="en-US" sz="1200" dirty="0"/>
          </a:p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roles filled</a:t>
            </a:r>
          </a:p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cs typeface="Arial" pitchFamily="34" charset="-120"/>
              </a:rPr>
              <a:t>Cross-functional upskilling in addition to development (CI/CD, Infra, Security, QE)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3212455"/>
            <a:ext cx="777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Clear Ownership (In Progress)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526780"/>
            <a:ext cx="7620000" cy="18276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clear what each team owns (mutually exclusive, collectively exhaustive)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3861941"/>
            <a:ext cx="777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Independent Deployment (In Progress </a:t>
            </a:r>
            <a:r>
              <a:rPr lang="en-US" sz="1600" b="1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some teams</a:t>
            </a: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4176266"/>
            <a:ext cx="7620000" cy="649784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decoupled into standalone repos (or modular monolith)</a:t>
            </a:r>
            <a:endParaRPr lang="en-US" sz="1200" dirty="0"/>
          </a:p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own and operate deployment pipelines</a:t>
            </a:r>
            <a:endParaRPr lang="en-US" sz="1200" dirty="0"/>
          </a:p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coordination required for local deployments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81000"/>
            <a:ext cx="0" cy="466725"/>
          </a:xfrm>
          <a:prstGeom prst="line">
            <a:avLst/>
          </a:prstGeom>
          <a:noFill/>
          <a:ln w="952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81000"/>
            <a:ext cx="793452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Work before Capacity Shift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101626"/>
            <a:ext cx="38215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1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DO </a:t>
            </a:r>
            <a:br>
              <a:rPr lang="en-US" sz="1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(Cannot shift capacity until done)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34901" y="1806476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Data layer improvements: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4901" y="2035076"/>
            <a:ext cx="3746599" cy="1515368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stability &amp; scalability limitations</a:t>
            </a:r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to cloud-native, infinitely scalable storage (DynamoDB, S3) where appropriate</a:t>
            </a:r>
            <a:endParaRPr lang="en-US" sz="1300" dirty="0"/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Redo data modelling according to read/write patterns</a:t>
            </a:r>
            <a:endParaRPr lang="en-US" sz="1300" dirty="0"/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Thoughtful data retention policies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4901" y="3626644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4901" y="3855244"/>
            <a:ext cx="3746599" cy="795784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 / Scalability</a:t>
            </a:r>
            <a:endParaRPr lang="en-US" sz="1300" dirty="0"/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62500" y="1101626"/>
            <a:ext cx="38215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17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BUT NEGOTIABLE</a:t>
            </a:r>
            <a:br>
              <a:rPr lang="en-US" sz="17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7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(Timing flexible)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62500" y="1806476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urgent, but trade-offs possible: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62500" y="2035076"/>
            <a:ext cx="3746599" cy="1729829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Event/Messaging system (replace Mongo-based Event Bus)</a:t>
            </a:r>
            <a:endParaRPr lang="en-US" sz="1300" dirty="0"/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Infinitely scalable queue processors/event subscribers</a:t>
            </a:r>
            <a:endParaRPr lang="en-US" sz="1300" dirty="0"/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infra (containers, managed services vs EC2)</a:t>
            </a:r>
            <a:endParaRPr lang="en-US" sz="1300" dirty="0"/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observability &amp; instrumentation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62500" y="3841104"/>
            <a:ext cx="3821531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Notes: </a:t>
            </a:r>
          </a:p>
          <a:p>
            <a:pPr marL="171450" indent="-171450" algn="l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Veritas/Kickdrum will likely comment on these gaps</a:t>
            </a:r>
          </a:p>
          <a:p>
            <a:pPr marL="171450" indent="-1714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cs typeface="Arial" pitchFamily="34" charset="-120"/>
              </a:rPr>
              <a:t>Still urgent, but timing and sequencing become a more “normal” discussion of tradeoffs between commercial / technical initiatives </a:t>
            </a:r>
            <a:br>
              <a:rPr lang="en-US" sz="1100" i="1" dirty="0">
                <a:solidFill>
                  <a:srgbClr val="7F8C8D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100" i="1" dirty="0">
                <a:solidFill>
                  <a:srgbClr val="7F8C8D"/>
                </a:solidFill>
                <a:latin typeface="Arial" pitchFamily="34" charset="0"/>
                <a:cs typeface="Arial" pitchFamily="34" charset="-120"/>
              </a:rPr>
              <a:t>(ROI vs. risk vs. scalability etc.)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17450"/>
            <a:ext cx="0" cy="409575"/>
          </a:xfrm>
          <a:prstGeom prst="line">
            <a:avLst/>
          </a:prstGeom>
          <a:noFill/>
          <a:ln w="952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17450"/>
            <a:ext cx="793452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&amp; Capacity Evolution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01168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Q1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7180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Q2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93192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Q3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9204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Q4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Q1 2027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1228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Q2 2027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Q3 2027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MongoDB → Atlas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1371600"/>
            <a:ext cx="1502752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14433" y="1371600"/>
            <a:ext cx="1093436" cy="274320"/>
          </a:xfrm>
          <a:prstGeom prst="rightArrow">
            <a:avLst>
              <a:gd name="adj1" fmla="val 50000"/>
              <a:gd name="adj2" fmla="val 398599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7432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Disaster Recovery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71799" y="1828800"/>
            <a:ext cx="2171591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49402" y="1828800"/>
            <a:ext cx="702757" cy="274320"/>
          </a:xfrm>
          <a:prstGeom prst="rightArrow">
            <a:avLst>
              <a:gd name="adj1" fmla="val 50000"/>
              <a:gd name="adj2" fmla="val 35000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Red Mythos (Vuln/EOL)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20995" y="2286000"/>
            <a:ext cx="453562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74557" y="2286000"/>
            <a:ext cx="541127" cy="274320"/>
          </a:xfrm>
          <a:prstGeom prst="rightArrow">
            <a:avLst>
              <a:gd name="adj1" fmla="val 50000"/>
              <a:gd name="adj2" fmla="val 24500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Autonomous Teams / Break Monolith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0" y="2743200"/>
            <a:ext cx="3840480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P0 Database Improvements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72100" y="3200400"/>
            <a:ext cx="1697544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Other (Messaging, Cloud-Native Infra, …)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59" y="3657600"/>
            <a:ext cx="3291841" cy="274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4297680"/>
            <a:ext cx="859536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3E50"/>
                </a:solidFill>
              </a:rPr>
              <a:t>Capacity (Com/Tech)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0769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10769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06781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06781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02793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02793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8805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8805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</a:p>
        </p:txBody>
      </p:sp>
      <p:sp>
        <p:nvSpPr>
          <p:cNvPr id="36" name="Shape 34"/>
          <p:cNvSpPr/>
          <p:nvPr/>
        </p:nvSpPr>
        <p:spPr>
          <a:xfrm>
            <a:off x="5948172" y="4480560"/>
            <a:ext cx="768096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4817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50/50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908292" y="4480560"/>
            <a:ext cx="768096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0829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50/50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868412" y="4480560"/>
            <a:ext cx="768096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86841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70/30</a:t>
            </a:r>
            <a:endParaRPr lang="en-US" sz="1100" dirty="0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E1A21D68-1E28-8970-8086-407692073C31}"/>
              </a:ext>
            </a:extLst>
          </p:cNvPr>
          <p:cNvSpPr/>
          <p:nvPr/>
        </p:nvSpPr>
        <p:spPr>
          <a:xfrm>
            <a:off x="5852159" y="2743200"/>
            <a:ext cx="949379" cy="274320"/>
          </a:xfrm>
          <a:prstGeom prst="rightArrow">
            <a:avLst>
              <a:gd name="adj1" fmla="val 50000"/>
              <a:gd name="adj2" fmla="val 345157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86C1FE8-E924-46A6-2A7A-611D28A904B3}"/>
              </a:ext>
            </a:extLst>
          </p:cNvPr>
          <p:cNvCxnSpPr/>
          <p:nvPr/>
        </p:nvCxnSpPr>
        <p:spPr>
          <a:xfrm>
            <a:off x="2971800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3F8E6E6-0050-F39E-A8D3-F35DE5806EBB}"/>
              </a:ext>
            </a:extLst>
          </p:cNvPr>
          <p:cNvCxnSpPr/>
          <p:nvPr/>
        </p:nvCxnSpPr>
        <p:spPr>
          <a:xfrm>
            <a:off x="3931920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B83EBDE-8C09-CAB0-B96C-A98607ECE576}"/>
              </a:ext>
            </a:extLst>
          </p:cNvPr>
          <p:cNvCxnSpPr/>
          <p:nvPr/>
        </p:nvCxnSpPr>
        <p:spPr>
          <a:xfrm>
            <a:off x="4895904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15C39F1-D51A-2EA1-0C1D-DCC8BD1BEB5C}"/>
              </a:ext>
            </a:extLst>
          </p:cNvPr>
          <p:cNvCxnSpPr/>
          <p:nvPr/>
        </p:nvCxnSpPr>
        <p:spPr>
          <a:xfrm>
            <a:off x="5856024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77F7A09-6689-5228-7067-E9BF4C0150FE}"/>
              </a:ext>
            </a:extLst>
          </p:cNvPr>
          <p:cNvCxnSpPr/>
          <p:nvPr/>
        </p:nvCxnSpPr>
        <p:spPr>
          <a:xfrm>
            <a:off x="6817003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3F3465F-2779-9732-9E8C-7ADFAA3A3233}"/>
              </a:ext>
            </a:extLst>
          </p:cNvPr>
          <p:cNvCxnSpPr/>
          <p:nvPr/>
        </p:nvCxnSpPr>
        <p:spPr>
          <a:xfrm>
            <a:off x="7777123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F48E226-E4F6-8C86-4B59-21138631030C}"/>
              </a:ext>
            </a:extLst>
          </p:cNvPr>
          <p:cNvCxnSpPr/>
          <p:nvPr/>
        </p:nvCxnSpPr>
        <p:spPr>
          <a:xfrm>
            <a:off x="8726511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3" name="Shape 17">
            <a:extLst>
              <a:ext uri="{FF2B5EF4-FFF2-40B4-BE49-F238E27FC236}">
                <a16:creationId xmlns:a16="http://schemas.microsoft.com/office/drawing/2014/main" id="{382DD494-F9FD-4F75-53F0-22CD0DC15ACC}"/>
              </a:ext>
            </a:extLst>
          </p:cNvPr>
          <p:cNvSpPr/>
          <p:nvPr/>
        </p:nvSpPr>
        <p:spPr>
          <a:xfrm>
            <a:off x="7074367" y="3200400"/>
            <a:ext cx="672084" cy="274320"/>
          </a:xfrm>
          <a:prstGeom prst="rightArrow">
            <a:avLst>
              <a:gd name="adj1" fmla="val 50000"/>
              <a:gd name="adj2" fmla="val 24500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2C1C666-5835-0DBD-10B5-C90A9CD09FC1}"/>
              </a:ext>
            </a:extLst>
          </p:cNvPr>
          <p:cNvSpPr/>
          <p:nvPr/>
        </p:nvSpPr>
        <p:spPr>
          <a:xfrm>
            <a:off x="4551947" y="1448659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84B7B30-0751-5CA1-5DAE-FD34DBA8F8EF}"/>
              </a:ext>
            </a:extLst>
          </p:cNvPr>
          <p:cNvSpPr/>
          <p:nvPr/>
        </p:nvSpPr>
        <p:spPr>
          <a:xfrm>
            <a:off x="5796904" y="1908006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9C021EC-8E6A-8C9D-3356-330B031590FE}"/>
              </a:ext>
            </a:extLst>
          </p:cNvPr>
          <p:cNvSpPr/>
          <p:nvPr/>
        </p:nvSpPr>
        <p:spPr>
          <a:xfrm>
            <a:off x="4178459" y="2367352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361C4E9-D803-07EA-3B42-983B370E7793}"/>
              </a:ext>
            </a:extLst>
          </p:cNvPr>
          <p:cNvSpPr/>
          <p:nvPr/>
        </p:nvSpPr>
        <p:spPr>
          <a:xfrm>
            <a:off x="6762819" y="2822406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321B91F-C6F1-6FA1-9E13-29B4A1F54AFD}"/>
              </a:ext>
            </a:extLst>
          </p:cNvPr>
          <p:cNvSpPr/>
          <p:nvPr/>
        </p:nvSpPr>
        <p:spPr>
          <a:xfrm>
            <a:off x="7715855" y="3286045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1972DF15-7E38-283D-533E-2FECB4179427}"/>
              </a:ext>
            </a:extLst>
          </p:cNvPr>
          <p:cNvSpPr/>
          <p:nvPr/>
        </p:nvSpPr>
        <p:spPr>
          <a:xfrm>
            <a:off x="6517259" y="154802"/>
            <a:ext cx="13946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Confidence:</a:t>
            </a:r>
            <a:endParaRPr lang="en-US" sz="110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A538984-EA6A-5930-868D-CBC6FAF7A3ED}"/>
              </a:ext>
            </a:extLst>
          </p:cNvPr>
          <p:cNvSpPr/>
          <p:nvPr/>
        </p:nvSpPr>
        <p:spPr>
          <a:xfrm>
            <a:off x="7994899" y="186141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0D779DC6-6DFB-CC25-4838-BDED9E78642B}"/>
              </a:ext>
            </a:extLst>
          </p:cNvPr>
          <p:cNvSpPr/>
          <p:nvPr/>
        </p:nvSpPr>
        <p:spPr>
          <a:xfrm>
            <a:off x="7990605" y="366446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 3">
            <a:extLst>
              <a:ext uri="{FF2B5EF4-FFF2-40B4-BE49-F238E27FC236}">
                <a16:creationId xmlns:a16="http://schemas.microsoft.com/office/drawing/2014/main" id="{4D259B32-3032-8972-4C41-A287BC81EF81}"/>
              </a:ext>
            </a:extLst>
          </p:cNvPr>
          <p:cNvSpPr/>
          <p:nvPr/>
        </p:nvSpPr>
        <p:spPr>
          <a:xfrm>
            <a:off x="8184333" y="160856"/>
            <a:ext cx="8222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00" dirty="0"/>
          </a:p>
        </p:txBody>
      </p:sp>
      <p:sp>
        <p:nvSpPr>
          <p:cNvPr id="61" name="Text 3">
            <a:extLst>
              <a:ext uri="{FF2B5EF4-FFF2-40B4-BE49-F238E27FC236}">
                <a16:creationId xmlns:a16="http://schemas.microsoft.com/office/drawing/2014/main" id="{1592C4CB-CB4A-497F-9D56-320044403BC1}"/>
              </a:ext>
            </a:extLst>
          </p:cNvPr>
          <p:cNvSpPr/>
          <p:nvPr/>
        </p:nvSpPr>
        <p:spPr>
          <a:xfrm>
            <a:off x="8184333" y="341161"/>
            <a:ext cx="8222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46183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17450"/>
            <a:ext cx="0" cy="409575"/>
          </a:xfrm>
          <a:prstGeom prst="line">
            <a:avLst/>
          </a:prstGeom>
          <a:noFill/>
          <a:ln w="952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17450"/>
            <a:ext cx="793452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&amp; Capacity Evolution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01168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Q1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7180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Q2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93192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Q3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9204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Q4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Q1 2027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1228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Q2 2027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Q3 2027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MongoDB → Atlas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1371600"/>
            <a:ext cx="192024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931920" y="1371600"/>
            <a:ext cx="771884" cy="274320"/>
          </a:xfrm>
          <a:prstGeom prst="rightArrow">
            <a:avLst>
              <a:gd name="adj1" fmla="val 50000"/>
              <a:gd name="adj2" fmla="val 28138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7432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Disaster Recovery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71800" y="1828800"/>
            <a:ext cx="192024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92040" y="1828800"/>
            <a:ext cx="960120" cy="274320"/>
          </a:xfrm>
          <a:prstGeom prst="rightArrow">
            <a:avLst>
              <a:gd name="adj1" fmla="val 50000"/>
              <a:gd name="adj2" fmla="val 350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Red Mythos (Vuln/EOL)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20994" y="2286000"/>
            <a:ext cx="998961" cy="274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19956" y="2286000"/>
            <a:ext cx="672084" cy="274320"/>
          </a:xfrm>
          <a:prstGeom prst="rightArrow">
            <a:avLst>
              <a:gd name="adj1" fmla="val 50000"/>
              <a:gd name="adj2" fmla="val 24500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Autonomous Teams / Break Monolith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0" y="2743200"/>
            <a:ext cx="3840480" cy="274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P0 Database Improvements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72100" y="3200400"/>
            <a:ext cx="2400300" cy="274320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Other (Messaging, Cloud-Native Infra)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92340" y="3657600"/>
            <a:ext cx="1851660" cy="274320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4297680"/>
            <a:ext cx="859536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3E50"/>
                </a:solidFill>
              </a:rPr>
              <a:t>Capacity (Com/Tech)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0769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10769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06781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06781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02793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02793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8805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8805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</a:p>
        </p:txBody>
      </p:sp>
      <p:sp>
        <p:nvSpPr>
          <p:cNvPr id="36" name="Shape 34"/>
          <p:cNvSpPr/>
          <p:nvPr/>
        </p:nvSpPr>
        <p:spPr>
          <a:xfrm>
            <a:off x="5948172" y="4480560"/>
            <a:ext cx="768096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4817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50/50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908292" y="4480560"/>
            <a:ext cx="768096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0829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50/50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868412" y="4480560"/>
            <a:ext cx="768096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86841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70/30</a:t>
            </a:r>
            <a:endParaRPr lang="en-US" sz="1100" dirty="0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E1A21D68-1E28-8970-8086-407692073C31}"/>
              </a:ext>
            </a:extLst>
          </p:cNvPr>
          <p:cNvSpPr/>
          <p:nvPr/>
        </p:nvSpPr>
        <p:spPr>
          <a:xfrm>
            <a:off x="5852160" y="2743200"/>
            <a:ext cx="672084" cy="274320"/>
          </a:xfrm>
          <a:prstGeom prst="rightArrow">
            <a:avLst>
              <a:gd name="adj1" fmla="val 50000"/>
              <a:gd name="adj2" fmla="val 24500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86C1FE8-E924-46A6-2A7A-611D28A904B3}"/>
              </a:ext>
            </a:extLst>
          </p:cNvPr>
          <p:cNvCxnSpPr/>
          <p:nvPr/>
        </p:nvCxnSpPr>
        <p:spPr>
          <a:xfrm>
            <a:off x="2971800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3F8E6E6-0050-F39E-A8D3-F35DE5806EBB}"/>
              </a:ext>
            </a:extLst>
          </p:cNvPr>
          <p:cNvCxnSpPr/>
          <p:nvPr/>
        </p:nvCxnSpPr>
        <p:spPr>
          <a:xfrm>
            <a:off x="3931920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B83EBDE-8C09-CAB0-B96C-A98607ECE576}"/>
              </a:ext>
            </a:extLst>
          </p:cNvPr>
          <p:cNvCxnSpPr/>
          <p:nvPr/>
        </p:nvCxnSpPr>
        <p:spPr>
          <a:xfrm>
            <a:off x="4895904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15C39F1-D51A-2EA1-0C1D-DCC8BD1BEB5C}"/>
              </a:ext>
            </a:extLst>
          </p:cNvPr>
          <p:cNvCxnSpPr/>
          <p:nvPr/>
        </p:nvCxnSpPr>
        <p:spPr>
          <a:xfrm>
            <a:off x="5856024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77F7A09-6689-5228-7067-E9BF4C0150FE}"/>
              </a:ext>
            </a:extLst>
          </p:cNvPr>
          <p:cNvCxnSpPr/>
          <p:nvPr/>
        </p:nvCxnSpPr>
        <p:spPr>
          <a:xfrm>
            <a:off x="6817003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3F3465F-2779-9732-9E8C-7ADFAA3A3233}"/>
              </a:ext>
            </a:extLst>
          </p:cNvPr>
          <p:cNvCxnSpPr/>
          <p:nvPr/>
        </p:nvCxnSpPr>
        <p:spPr>
          <a:xfrm>
            <a:off x="7777123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F48E226-E4F6-8C86-4B59-21138631030C}"/>
              </a:ext>
            </a:extLst>
          </p:cNvPr>
          <p:cNvCxnSpPr/>
          <p:nvPr/>
        </p:nvCxnSpPr>
        <p:spPr>
          <a:xfrm>
            <a:off x="8726511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Mitigations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46587" y="2963763"/>
            <a:ext cx="19267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 Risks and Mitigations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50" y="1298377"/>
          <a:ext cx="7772400" cy="350222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37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Initiative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Risks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Mitigations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7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MongoDB to Atlas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Minimal Risk at this point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 mitigation needed at this point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7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Disaster Recovery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Unknown Unknowns, Outside dependencies on Exchange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Discovery work started, lower env dry runs, targeting Oct vs Dec for buffer, engaging teams outside Exchange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37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Red Mythos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High coupling → high complexity → big bang approach, large version jumps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Sequestered team on dedicated branch/env, heavy AI use for remediation and testing, all hands plan for merging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37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Autonomous Teams / Break Monolith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Impact from Atlas, DR, Red Mythos; Hiring (esp. India); High coupling; Unknown unknowns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Fast-tracking DR and Red Mythos, India comp flexibility, giving teams flexibility on reaching independent deployments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37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COMMON RISK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Competing priorities &amp; interference on same monolithic codebase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Laser focus Q3-Q4 (see next slide)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Q3 - Q4 Technical Laser Focus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15901" y="1926431"/>
            <a:ext cx="72544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500"/>
              </a:spcBef>
              <a:spcAft>
                <a:spcPts val="25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direction to teams for Q3 and Q4: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15901" y="2462957"/>
            <a:ext cx="7112198" cy="211588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063526" y="2462957"/>
            <a:ext cx="0" cy="2115889"/>
          </a:xfrm>
          <a:prstGeom prst="line">
            <a:avLst/>
          </a:prstGeom>
          <a:noFill/>
          <a:ln w="952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28601" y="2780407"/>
            <a:ext cx="65096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Technical Capacity - Three Buckets Only: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28601" y="3301008"/>
            <a:ext cx="6382048" cy="96038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Mythos (Vulnerabilities &amp; EOL Technologies)</a:t>
            </a:r>
            <a:endParaRPr lang="en-US" sz="1400" dirty="0"/>
          </a:p>
          <a:p>
            <a:pPr marL="190500" indent="-190500" algn="l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Recovery</a:t>
            </a:r>
            <a:endParaRPr lang="en-US" sz="1400" dirty="0"/>
          </a:p>
          <a:p>
            <a:pPr marL="190500" indent="-190500" algn="l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Teams / Breaking the Monolith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1228</TotalTime>
  <Words>859</Words>
  <Application>Microsoft Macintosh PowerPoint</Application>
  <PresentationFormat>On-screen Show (16:9)</PresentationFormat>
  <Paragraphs>168</Paragraphs>
  <Slides>12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Exchange Modernization Update - May 2026</dc:title>
  <dc:subject>PptxGenJS Presentation</dc:subject>
  <dc:creator>Marten Engblom</dc:creator>
  <cp:lastModifiedBy>Marten Engblom</cp:lastModifiedBy>
  <cp:revision>6</cp:revision>
  <dcterms:created xsi:type="dcterms:W3CDTF">2026-05-21T21:09:37Z</dcterms:created>
  <dcterms:modified xsi:type="dcterms:W3CDTF">2026-05-22T19:22:00Z</dcterms:modified>
</cp:coreProperties>
</file>